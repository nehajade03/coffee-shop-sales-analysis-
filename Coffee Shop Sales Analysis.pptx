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60" r:id="rId5"/>
    <p:sldId id="261" r:id="rId6"/>
    <p:sldId id="262" r:id="rId7"/>
    <p:sldId id="258" r:id="rId8"/>
    <p:sldId id="263" r:id="rId9"/>
    <p:sldId id="264" r:id="rId10"/>
    <p:sldId id="265" r:id="rId11"/>
    <p:sldId id="266" r:id="rId12"/>
    <p:sldId id="267" r:id="rId13"/>
    <p:sldId id="268" r:id="rId14"/>
    <p:sldId id="276" r:id="rId15"/>
    <p:sldId id="269" r:id="rId16"/>
    <p:sldId id="270" r:id="rId17"/>
    <p:sldId id="271" r:id="rId18"/>
    <p:sldId id="272" r:id="rId19"/>
    <p:sldId id="273" r:id="rId20"/>
    <p:sldId id="275" r:id="rId21"/>
    <p:sldId id="277" r:id="rId22"/>
    <p:sldId id="284" r:id="rId23"/>
    <p:sldId id="285" r:id="rId24"/>
    <p:sldId id="28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73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765C-F52C-99EC-87F4-4D0D096649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5077E4-9516-2F7C-D2A6-63C4C3969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23568B-8CFB-C231-87D4-15C056C305C0}"/>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6F5FD0D6-9A9D-979F-7873-418A7C61AB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0F57A-F752-3071-8B07-E8C1F28DF60B}"/>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3217922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86E8-42E8-3545-AB83-FA66C857A9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500035-AC36-F892-6319-99CC91F36E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EF084-7DE5-077A-423F-CC80D322B64F}"/>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6735A44B-73F2-400A-4B66-D723FC7AF4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6496BD-73CA-8CD9-8062-FC77F465EB64}"/>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3351437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E12B9-259B-330B-86D4-02063102A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DD845B-E8CB-E2E1-2DB5-FDDD8C891E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CDCC5A-5DC1-918C-7FD7-6F8E32F9C386}"/>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12DE9431-98B3-6D0F-6283-B9CA18D674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B82E79-4F8D-DC49-D7FE-BB00C52671DF}"/>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3233432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E1134-70C2-536E-150B-9B1C021A09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B4F8A9-709F-3E60-C872-7065B5C4A9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B7C221-7FFD-8BB2-EFE5-97375E5B80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45AEC2-8E31-E29B-8949-D48A74F1D4A0}"/>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6" name="Footer Placeholder 5">
            <a:extLst>
              <a:ext uri="{FF2B5EF4-FFF2-40B4-BE49-F238E27FC236}">
                <a16:creationId xmlns:a16="http://schemas.microsoft.com/office/drawing/2014/main" id="{8CA21CD8-488E-69B4-093F-A529D43D9A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BEFC41-F299-2A65-774B-36A3840888A1}"/>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1689513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0FCFF-F58A-2AB0-BBE1-1DE4B02831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BA0C3C-EB7F-2EA2-CCF5-8E1018385E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6705F2-63B9-1A67-CC6F-ED0FB9CD06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C9D4D4-FF25-799C-19EC-B08E148AB9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A03691-602B-7864-D3B2-E8D31523CF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B51B7C-3A4F-8171-B03D-89FE4256A4D5}"/>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8" name="Footer Placeholder 7">
            <a:extLst>
              <a:ext uri="{FF2B5EF4-FFF2-40B4-BE49-F238E27FC236}">
                <a16:creationId xmlns:a16="http://schemas.microsoft.com/office/drawing/2014/main" id="{1D008845-50F6-92AF-1E60-9D9444A98B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8FFD3B-7ACA-AB65-E82B-B896A08F9917}"/>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270102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6E8-E8D9-CCA5-CE95-2FC889902A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9D386D-09E8-E33E-8461-C32ACA45265C}"/>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4" name="Footer Placeholder 3">
            <a:extLst>
              <a:ext uri="{FF2B5EF4-FFF2-40B4-BE49-F238E27FC236}">
                <a16:creationId xmlns:a16="http://schemas.microsoft.com/office/drawing/2014/main" id="{345986AF-32BB-1A24-F2ED-3C21D9A162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B575EC-207F-FDE5-3415-AE577CB64735}"/>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4278481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85F54A-2FE0-72F8-7140-54516996D371}"/>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3" name="Footer Placeholder 2">
            <a:extLst>
              <a:ext uri="{FF2B5EF4-FFF2-40B4-BE49-F238E27FC236}">
                <a16:creationId xmlns:a16="http://schemas.microsoft.com/office/drawing/2014/main" id="{4C7BE3A9-4A94-F63C-5B4C-9449D61055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C74523-141A-8724-F60E-85FC1A153F4E}"/>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2509011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34A6-78F8-6074-F9F7-0CA55B4C23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5A631D-1176-162E-EB43-6BAF6851F7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5C1CDC-660E-49C6-9049-4EC808F19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E890B-E2E7-FEF3-49AB-5FF5B3C360EC}"/>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6" name="Footer Placeholder 5">
            <a:extLst>
              <a:ext uri="{FF2B5EF4-FFF2-40B4-BE49-F238E27FC236}">
                <a16:creationId xmlns:a16="http://schemas.microsoft.com/office/drawing/2014/main" id="{7E369BA0-4DD5-0AAF-54D8-24067E1225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458CB9-6FB3-9A8F-4944-D9765F51DD33}"/>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347249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C695E-7F7D-F12F-7832-E9DE629433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6E43CA-FDE4-D47C-8883-2FD712B55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280CC4-D57C-5D98-3333-E90D3DD20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E87FF6-6DBE-A27C-9B46-C869A71C4ABD}"/>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6" name="Footer Placeholder 5">
            <a:extLst>
              <a:ext uri="{FF2B5EF4-FFF2-40B4-BE49-F238E27FC236}">
                <a16:creationId xmlns:a16="http://schemas.microsoft.com/office/drawing/2014/main" id="{F843BE41-4E0A-297D-5282-153F828188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4A0928-A12D-D73F-88DB-2D32835D01BF}"/>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704425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E7E4-4914-A6D0-195F-C828BBADE7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F95E1C-6FE3-16EA-6052-FF2E6CA7B6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09A1F7-926D-3FAC-C8CE-E90AB2F0C36A}"/>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BC76B64D-DB9D-D923-F4AE-5EF9EBF195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D70D72-89CA-BEA6-0899-A690AE242968}"/>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1242895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979CF-86CD-20EA-DEFC-DB60D66ADB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988511-083C-3538-AF1C-4E7E1CA145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B12F95-5BF4-03BA-C1DB-F627E0E7F122}"/>
              </a:ext>
            </a:extLst>
          </p:cNvPr>
          <p:cNvSpPr>
            <a:spLocks noGrp="1"/>
          </p:cNvSpPr>
          <p:nvPr>
            <p:ph type="dt" sz="half" idx="10"/>
          </p:nvPr>
        </p:nvSpPr>
        <p:spPr/>
        <p:txBody>
          <a:body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D8AFFCB7-83A7-E633-20E7-FCA24AF1F0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B526B4-E2AC-62DB-15CF-C0A664A8EC9F}"/>
              </a:ext>
            </a:extLst>
          </p:cNvPr>
          <p:cNvSpPr>
            <a:spLocks noGrp="1"/>
          </p:cNvSpPr>
          <p:nvPr>
            <p:ph type="sldNum" sz="quarter" idx="12"/>
          </p:nvPr>
        </p:nvSpPr>
        <p:spPr/>
        <p:txBody>
          <a:bodyPr/>
          <a:lstStyle/>
          <a:p>
            <a:fld id="{4B18590A-3B38-4E17-B558-5784456E1080}" type="slidenum">
              <a:rPr lang="en-IN" smtClean="0"/>
              <a:t>‹#›</a:t>
            </a:fld>
            <a:endParaRPr lang="en-IN"/>
          </a:p>
        </p:txBody>
      </p:sp>
    </p:spTree>
    <p:extLst>
      <p:ext uri="{BB962C8B-B14F-4D97-AF65-F5344CB8AC3E}">
        <p14:creationId xmlns:p14="http://schemas.microsoft.com/office/powerpoint/2010/main" val="4259687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7000">
              <a:schemeClr val="accent2">
                <a:lumMod val="50000"/>
                <a:alpha val="76000"/>
              </a:schemeClr>
            </a:gs>
            <a:gs pos="95000">
              <a:schemeClr val="accent2">
                <a:lumMod val="60000"/>
                <a:lumOff val="40000"/>
              </a:schemeClr>
            </a:gs>
          </a:gsLst>
          <a:lin ang="78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7DDD89-1D3C-9D5B-A4D6-22A069D93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D6B560-4181-37A9-32E5-5BF1D5EAF7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12AF1E-632A-6C4C-D2BE-C66376A416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56F270-93C3-4C42-BDEB-B7629A2C4779}" type="datetimeFigureOut">
              <a:rPr lang="en-IN" smtClean="0"/>
              <a:t>05-12-2025</a:t>
            </a:fld>
            <a:endParaRPr lang="en-IN"/>
          </a:p>
        </p:txBody>
      </p:sp>
      <p:sp>
        <p:nvSpPr>
          <p:cNvPr id="5" name="Footer Placeholder 4">
            <a:extLst>
              <a:ext uri="{FF2B5EF4-FFF2-40B4-BE49-F238E27FC236}">
                <a16:creationId xmlns:a16="http://schemas.microsoft.com/office/drawing/2014/main" id="{4E20D203-2AC7-0403-F9D0-0CD25E6963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1D889C-19D1-52C2-B5B7-84F5688BAD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18590A-3B38-4E17-B558-5784456E1080}" type="slidenum">
              <a:rPr lang="en-IN" smtClean="0"/>
              <a:t>‹#›</a:t>
            </a:fld>
            <a:endParaRPr lang="en-IN"/>
          </a:p>
        </p:txBody>
      </p:sp>
    </p:spTree>
    <p:extLst>
      <p:ext uri="{BB962C8B-B14F-4D97-AF65-F5344CB8AC3E}">
        <p14:creationId xmlns:p14="http://schemas.microsoft.com/office/powerpoint/2010/main" val="287655536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F450-ED53-08B7-B27F-36AF6D443AB3}"/>
              </a:ext>
            </a:extLst>
          </p:cNvPr>
          <p:cNvSpPr>
            <a:spLocks noGrp="1"/>
          </p:cNvSpPr>
          <p:nvPr>
            <p:ph type="ctrTitle"/>
          </p:nvPr>
        </p:nvSpPr>
        <p:spPr>
          <a:xfrm>
            <a:off x="1524000" y="422787"/>
            <a:ext cx="9144000" cy="2015614"/>
          </a:xfrm>
        </p:spPr>
        <p:txBody>
          <a:bodyPr anchor="ctr">
            <a:normAutofit/>
          </a:bodyPr>
          <a:lstStyle/>
          <a:p>
            <a:r>
              <a:rPr lang="en-IN" dirty="0">
                <a:solidFill>
                  <a:schemeClr val="accent2">
                    <a:lumMod val="50000"/>
                  </a:schemeClr>
                </a:solidFill>
                <a:latin typeface="Segoe UI Black" panose="020B0A02040204020203" pitchFamily="34" charset="0"/>
                <a:ea typeface="Segoe UI Black" panose="020B0A02040204020203" pitchFamily="34" charset="0"/>
                <a:cs typeface="Segoe UI Semibold" panose="020B0702040204020203" pitchFamily="34" charset="0"/>
              </a:rPr>
              <a:t>COFFEE SHOP SALES</a:t>
            </a:r>
            <a:br>
              <a:rPr lang="en-IN" dirty="0">
                <a:solidFill>
                  <a:schemeClr val="accent2">
                    <a:lumMod val="50000"/>
                  </a:schemeClr>
                </a:solidFill>
                <a:latin typeface="Segoe UI Black" panose="020B0A02040204020203" pitchFamily="34" charset="0"/>
                <a:ea typeface="Segoe UI Black" panose="020B0A02040204020203" pitchFamily="34" charset="0"/>
                <a:cs typeface="Segoe UI Semibold" panose="020B0702040204020203" pitchFamily="34" charset="0"/>
              </a:rPr>
            </a:br>
            <a:endParaRPr lang="en-IN" dirty="0">
              <a:solidFill>
                <a:schemeClr val="accent2">
                  <a:lumMod val="50000"/>
                </a:schemeClr>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 name="Subtitle 2">
            <a:extLst>
              <a:ext uri="{FF2B5EF4-FFF2-40B4-BE49-F238E27FC236}">
                <a16:creationId xmlns:a16="http://schemas.microsoft.com/office/drawing/2014/main" id="{933421A1-DC04-2650-82F9-DF4EE45CEFCE}"/>
              </a:ext>
            </a:extLst>
          </p:cNvPr>
          <p:cNvSpPr>
            <a:spLocks noGrp="1"/>
          </p:cNvSpPr>
          <p:nvPr>
            <p:ph type="subTitle" idx="1"/>
          </p:nvPr>
        </p:nvSpPr>
        <p:spPr>
          <a:xfrm>
            <a:off x="1602658" y="1691149"/>
            <a:ext cx="9144000" cy="1293620"/>
          </a:xfrm>
        </p:spPr>
        <p:txBody>
          <a:bodyPr anchor="ctr">
            <a:normAutofit lnSpcReduction="10000"/>
          </a:bodyPr>
          <a:lstStyle/>
          <a:p>
            <a:endParaRPr lang="en-IN" sz="4000" dirty="0"/>
          </a:p>
          <a:p>
            <a:r>
              <a:rPr lang="en-IN" sz="4000" dirty="0"/>
              <a:t>POWER BI + SQL </a:t>
            </a:r>
          </a:p>
        </p:txBody>
      </p:sp>
      <p:pic>
        <p:nvPicPr>
          <p:cNvPr id="9" name="Picture 8">
            <a:extLst>
              <a:ext uri="{FF2B5EF4-FFF2-40B4-BE49-F238E27FC236}">
                <a16:creationId xmlns:a16="http://schemas.microsoft.com/office/drawing/2014/main" id="{40103713-EE9F-33B7-A530-8745026A5F1A}"/>
              </a:ext>
            </a:extLst>
          </p:cNvPr>
          <p:cNvPicPr>
            <a:picLocks noChangeAspect="1"/>
          </p:cNvPicPr>
          <p:nvPr/>
        </p:nvPicPr>
        <p:blipFill>
          <a:blip r:embed="rId2"/>
          <a:stretch>
            <a:fillRect/>
          </a:stretch>
        </p:blipFill>
        <p:spPr>
          <a:xfrm>
            <a:off x="565353" y="3932188"/>
            <a:ext cx="4665408" cy="2724249"/>
          </a:xfrm>
          <a:prstGeom prst="rect">
            <a:avLst/>
          </a:prstGeom>
        </p:spPr>
      </p:pic>
      <p:pic>
        <p:nvPicPr>
          <p:cNvPr id="11" name="Picture 10">
            <a:extLst>
              <a:ext uri="{FF2B5EF4-FFF2-40B4-BE49-F238E27FC236}">
                <a16:creationId xmlns:a16="http://schemas.microsoft.com/office/drawing/2014/main" id="{FFD463A8-7122-5D0A-BFE1-9B6C780A9EA0}"/>
              </a:ext>
            </a:extLst>
          </p:cNvPr>
          <p:cNvPicPr>
            <a:picLocks noChangeAspect="1"/>
          </p:cNvPicPr>
          <p:nvPr/>
        </p:nvPicPr>
        <p:blipFill>
          <a:blip r:embed="rId3"/>
          <a:stretch>
            <a:fillRect/>
          </a:stretch>
        </p:blipFill>
        <p:spPr>
          <a:xfrm>
            <a:off x="5886451" y="3932189"/>
            <a:ext cx="5165007" cy="2724249"/>
          </a:xfrm>
          <a:prstGeom prst="rect">
            <a:avLst/>
          </a:prstGeom>
        </p:spPr>
      </p:pic>
      <p:pic>
        <p:nvPicPr>
          <p:cNvPr id="14" name="Picture 13">
            <a:extLst>
              <a:ext uri="{FF2B5EF4-FFF2-40B4-BE49-F238E27FC236}">
                <a16:creationId xmlns:a16="http://schemas.microsoft.com/office/drawing/2014/main" id="{8A5A98DF-2C0D-E4E1-29B7-F4C519A28D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8694" y="2016676"/>
            <a:ext cx="1514013" cy="1092733"/>
          </a:xfrm>
          <a:prstGeom prst="rect">
            <a:avLst/>
          </a:prstGeom>
        </p:spPr>
      </p:pic>
      <p:pic>
        <p:nvPicPr>
          <p:cNvPr id="16" name="Picture 15">
            <a:extLst>
              <a:ext uri="{FF2B5EF4-FFF2-40B4-BE49-F238E27FC236}">
                <a16:creationId xmlns:a16="http://schemas.microsoft.com/office/drawing/2014/main" id="{7833E6AC-A087-5901-B164-1E11F7EF5D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271" y="1861264"/>
            <a:ext cx="2202426" cy="1403555"/>
          </a:xfrm>
          <a:prstGeom prst="rect">
            <a:avLst/>
          </a:prstGeom>
        </p:spPr>
      </p:pic>
    </p:spTree>
    <p:extLst>
      <p:ext uri="{BB962C8B-B14F-4D97-AF65-F5344CB8AC3E}">
        <p14:creationId xmlns:p14="http://schemas.microsoft.com/office/powerpoint/2010/main" val="116498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A9FF-D124-275F-9253-AD372DB71A5C}"/>
              </a:ext>
            </a:extLst>
          </p:cNvPr>
          <p:cNvSpPr>
            <a:spLocks noGrp="1"/>
          </p:cNvSpPr>
          <p:nvPr>
            <p:ph type="ctrTitle"/>
          </p:nvPr>
        </p:nvSpPr>
        <p:spPr>
          <a:xfrm>
            <a:off x="1524000" y="418845"/>
            <a:ext cx="9144000" cy="879013"/>
          </a:xfrm>
        </p:spPr>
        <p:txBody>
          <a:bodyPr>
            <a:normAutofit fontScale="90000"/>
          </a:bodyPr>
          <a:lstStyle/>
          <a:p>
            <a:r>
              <a:rPr lang="en-IN" b="1" dirty="0"/>
              <a:t>My SQL </a:t>
            </a:r>
          </a:p>
        </p:txBody>
      </p:sp>
      <p:sp>
        <p:nvSpPr>
          <p:cNvPr id="3" name="Subtitle 2">
            <a:extLst>
              <a:ext uri="{FF2B5EF4-FFF2-40B4-BE49-F238E27FC236}">
                <a16:creationId xmlns:a16="http://schemas.microsoft.com/office/drawing/2014/main" id="{E17A14D6-3B9A-3473-8942-30497BEDD760}"/>
              </a:ext>
            </a:extLst>
          </p:cNvPr>
          <p:cNvSpPr>
            <a:spLocks noGrp="1"/>
          </p:cNvSpPr>
          <p:nvPr>
            <p:ph type="subTitle" idx="1"/>
          </p:nvPr>
        </p:nvSpPr>
        <p:spPr>
          <a:xfrm>
            <a:off x="1524000" y="1297858"/>
            <a:ext cx="9144000" cy="3959942"/>
          </a:xfrm>
        </p:spPr>
        <p:txBody>
          <a:bodyPr/>
          <a:lstStyle/>
          <a:p>
            <a:r>
              <a:rPr lang="en-IN" dirty="0"/>
              <a:t>Firing SQL Quires To Solve The Business Problems </a:t>
            </a:r>
          </a:p>
        </p:txBody>
      </p:sp>
      <p:pic>
        <p:nvPicPr>
          <p:cNvPr id="7" name="Picture 6">
            <a:extLst>
              <a:ext uri="{FF2B5EF4-FFF2-40B4-BE49-F238E27FC236}">
                <a16:creationId xmlns:a16="http://schemas.microsoft.com/office/drawing/2014/main" id="{78A772B5-9661-AA55-1553-14EB790564A0}"/>
              </a:ext>
            </a:extLst>
          </p:cNvPr>
          <p:cNvPicPr>
            <a:picLocks noChangeAspect="1"/>
          </p:cNvPicPr>
          <p:nvPr/>
        </p:nvPicPr>
        <p:blipFill>
          <a:blip r:embed="rId2"/>
          <a:stretch>
            <a:fillRect/>
          </a:stretch>
        </p:blipFill>
        <p:spPr>
          <a:xfrm>
            <a:off x="3421626" y="2067650"/>
            <a:ext cx="5152830" cy="2722700"/>
          </a:xfrm>
          <a:prstGeom prst="rect">
            <a:avLst/>
          </a:prstGeom>
        </p:spPr>
      </p:pic>
      <p:pic>
        <p:nvPicPr>
          <p:cNvPr id="9" name="Picture 8">
            <a:extLst>
              <a:ext uri="{FF2B5EF4-FFF2-40B4-BE49-F238E27FC236}">
                <a16:creationId xmlns:a16="http://schemas.microsoft.com/office/drawing/2014/main" id="{78F5FD43-D02E-C9D1-845D-033428957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94" y="2447003"/>
            <a:ext cx="1799303" cy="1661652"/>
          </a:xfrm>
          <a:prstGeom prst="rect">
            <a:avLst/>
          </a:prstGeom>
        </p:spPr>
      </p:pic>
      <p:pic>
        <p:nvPicPr>
          <p:cNvPr id="10" name="Picture 9">
            <a:extLst>
              <a:ext uri="{FF2B5EF4-FFF2-40B4-BE49-F238E27FC236}">
                <a16:creationId xmlns:a16="http://schemas.microsoft.com/office/drawing/2014/main" id="{DEF5B5C0-443B-4F59-EB88-A798FADA9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5226" y="2447003"/>
            <a:ext cx="1799303" cy="1661652"/>
          </a:xfrm>
          <a:prstGeom prst="rect">
            <a:avLst/>
          </a:prstGeom>
        </p:spPr>
      </p:pic>
    </p:spTree>
    <p:extLst>
      <p:ext uri="{BB962C8B-B14F-4D97-AF65-F5344CB8AC3E}">
        <p14:creationId xmlns:p14="http://schemas.microsoft.com/office/powerpoint/2010/main" val="989574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A62184AD-2379-EDC0-D534-6CA2CBBEF6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8833D5B-1B73-C891-57BE-5D70076A4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4581" y="34380"/>
            <a:ext cx="737419" cy="556298"/>
          </a:xfrm>
          <a:prstGeom prst="rect">
            <a:avLst/>
          </a:prstGeom>
        </p:spPr>
      </p:pic>
      <p:sp>
        <p:nvSpPr>
          <p:cNvPr id="2" name="Title 1">
            <a:extLst>
              <a:ext uri="{FF2B5EF4-FFF2-40B4-BE49-F238E27FC236}">
                <a16:creationId xmlns:a16="http://schemas.microsoft.com/office/drawing/2014/main" id="{05ED610C-7380-C5F9-5B53-A7EAB7E35A72}"/>
              </a:ext>
            </a:extLst>
          </p:cNvPr>
          <p:cNvSpPr>
            <a:spLocks noGrp="1"/>
          </p:cNvSpPr>
          <p:nvPr>
            <p:ph type="ctrTitle"/>
          </p:nvPr>
        </p:nvSpPr>
        <p:spPr>
          <a:xfrm>
            <a:off x="-1" y="109640"/>
            <a:ext cx="8927691" cy="962076"/>
          </a:xfrm>
        </p:spPr>
        <p:txBody>
          <a:bodyPr anchor="t">
            <a:normAutofit/>
          </a:bodyPr>
          <a:lstStyle/>
          <a:p>
            <a:pPr algn="l"/>
            <a:r>
              <a:rPr lang="en-IN" sz="3200" b="1" dirty="0">
                <a:solidFill>
                  <a:schemeClr val="accent2">
                    <a:lumMod val="50000"/>
                  </a:schemeClr>
                </a:solidFill>
                <a:latin typeface="+mn-lt"/>
              </a:rPr>
              <a:t>Problem Statement</a:t>
            </a:r>
          </a:p>
        </p:txBody>
      </p:sp>
      <p:sp>
        <p:nvSpPr>
          <p:cNvPr id="3" name="Subtitle 2">
            <a:extLst>
              <a:ext uri="{FF2B5EF4-FFF2-40B4-BE49-F238E27FC236}">
                <a16:creationId xmlns:a16="http://schemas.microsoft.com/office/drawing/2014/main" id="{FEF00C21-64F4-FDFC-DA70-3B3D1587D25E}"/>
              </a:ext>
            </a:extLst>
          </p:cNvPr>
          <p:cNvSpPr>
            <a:spLocks noGrp="1"/>
          </p:cNvSpPr>
          <p:nvPr>
            <p:ph type="subTitle" idx="1"/>
          </p:nvPr>
        </p:nvSpPr>
        <p:spPr>
          <a:xfrm>
            <a:off x="0" y="590678"/>
            <a:ext cx="12103510" cy="6267322"/>
          </a:xfrm>
        </p:spPr>
        <p:txBody>
          <a:bodyPr>
            <a:normAutofit/>
          </a:bodyPr>
          <a:lstStyle/>
          <a:p>
            <a:pPr algn="just"/>
            <a:r>
              <a:rPr lang="en-US" dirty="0"/>
              <a:t>1. The objective is to analyze sales data through detailed and interactive visualizations. The focus is to uncover patterns, trends, and insights that help in understanding sales performance across various dimensions such as time (daily, weekday vs. weekend), store locations, product categories, and top-performing products.</a:t>
            </a:r>
          </a:p>
          <a:p>
            <a:pPr algn="just"/>
            <a:r>
              <a:rPr lang="en-US" dirty="0"/>
              <a:t>2. Analyze sales data to uncover patterns and trends across time, locations, and product categories for improved performance insights.</a:t>
            </a:r>
          </a:p>
          <a:p>
            <a:pPr algn="just"/>
            <a:r>
              <a:rPr lang="en-US" b="1" dirty="0">
                <a:solidFill>
                  <a:schemeClr val="accent2">
                    <a:lumMod val="50000"/>
                  </a:schemeClr>
                </a:solidFill>
              </a:rPr>
              <a:t>  Chart Requirements:</a:t>
            </a:r>
            <a:endParaRPr lang="en-US" dirty="0">
              <a:solidFill>
                <a:schemeClr val="accent2">
                  <a:lumMod val="50000"/>
                </a:schemeClr>
              </a:solidFill>
            </a:endParaRPr>
          </a:p>
          <a:p>
            <a:pPr marL="342900" indent="-342900" algn="just">
              <a:buFont typeface="Arial" panose="020B0604020202020204" pitchFamily="34" charset="0"/>
              <a:buChar char="•"/>
            </a:pPr>
            <a:r>
              <a:rPr lang="en-US" b="1" dirty="0"/>
              <a:t>Calendar Heat Map:</a:t>
            </a:r>
            <a:r>
              <a:rPr lang="en-US" dirty="0"/>
              <a:t> Daily sales visualization with dynamic month selection.</a:t>
            </a:r>
          </a:p>
          <a:p>
            <a:pPr marL="342900" indent="-342900" algn="just">
              <a:buFont typeface="Arial" panose="020B0604020202020204" pitchFamily="34" charset="0"/>
              <a:buChar char="•"/>
            </a:pPr>
            <a:r>
              <a:rPr lang="en-US" b="1" dirty="0"/>
              <a:t>Weekday vs. Weekend Sales:</a:t>
            </a:r>
            <a:r>
              <a:rPr lang="en-US" dirty="0"/>
              <a:t> Compare sales performance.</a:t>
            </a:r>
          </a:p>
          <a:p>
            <a:pPr marL="342900" indent="-342900" algn="just">
              <a:buFont typeface="Arial" panose="020B0604020202020204" pitchFamily="34" charset="0"/>
              <a:buChar char="•"/>
            </a:pPr>
            <a:r>
              <a:rPr lang="en-US" b="1" dirty="0"/>
              <a:t>Location Analysis:</a:t>
            </a:r>
            <a:r>
              <a:rPr lang="en-US" dirty="0"/>
              <a:t> MoM sales trends by store location.</a:t>
            </a:r>
          </a:p>
          <a:p>
            <a:pPr marL="342900" indent="-342900" algn="just">
              <a:buFont typeface="Arial" panose="020B0604020202020204" pitchFamily="34" charset="0"/>
              <a:buChar char="•"/>
            </a:pPr>
            <a:r>
              <a:rPr lang="en-US" b="1" dirty="0"/>
              <a:t>Daily Sales Line Chart:</a:t>
            </a:r>
            <a:r>
              <a:rPr lang="en-US" dirty="0"/>
              <a:t> Highlight sales above/below average.</a:t>
            </a:r>
          </a:p>
          <a:p>
            <a:pPr marL="342900" indent="-342900" algn="just">
              <a:buFont typeface="Arial" panose="020B0604020202020204" pitchFamily="34" charset="0"/>
              <a:buChar char="•"/>
            </a:pPr>
            <a:r>
              <a:rPr lang="en-US" b="1" dirty="0"/>
              <a:t>Category Analysis:</a:t>
            </a:r>
            <a:r>
              <a:rPr lang="en-US" dirty="0"/>
              <a:t> Sales contribution by product categories.</a:t>
            </a:r>
          </a:p>
          <a:p>
            <a:pPr marL="342900" indent="-342900" algn="just">
              <a:buFont typeface="Arial" panose="020B0604020202020204" pitchFamily="34" charset="0"/>
              <a:buChar char="•"/>
            </a:pPr>
            <a:r>
              <a:rPr lang="en-US" b="1" dirty="0"/>
              <a:t>Top Products:</a:t>
            </a:r>
            <a:r>
              <a:rPr lang="en-US" dirty="0"/>
              <a:t> Display top 10 products by sales.</a:t>
            </a:r>
          </a:p>
          <a:p>
            <a:pPr marL="342900" indent="-342900" algn="just">
              <a:buFont typeface="Arial" panose="020B0604020202020204" pitchFamily="34" charset="0"/>
              <a:buChar char="•"/>
            </a:pPr>
            <a:r>
              <a:rPr lang="en-US" b="1" dirty="0"/>
              <a:t>Day &amp; Hour Heat Map:</a:t>
            </a:r>
            <a:r>
              <a:rPr lang="en-US" dirty="0"/>
              <a:t> Analyze sales patterns with detailed metrics.</a:t>
            </a:r>
          </a:p>
          <a:p>
            <a:pPr algn="just"/>
            <a:endParaRPr lang="en-IN" dirty="0"/>
          </a:p>
        </p:txBody>
      </p:sp>
    </p:spTree>
    <p:extLst>
      <p:ext uri="{BB962C8B-B14F-4D97-AF65-F5344CB8AC3E}">
        <p14:creationId xmlns:p14="http://schemas.microsoft.com/office/powerpoint/2010/main" val="180648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A6B2191F-5574-6F54-E0DB-8C96D47A4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4F494-1D0E-296B-2550-549F646BF32A}"/>
              </a:ext>
            </a:extLst>
          </p:cNvPr>
          <p:cNvSpPr>
            <a:spLocks noGrp="1"/>
          </p:cNvSpPr>
          <p:nvPr>
            <p:ph type="ctrTitle"/>
          </p:nvPr>
        </p:nvSpPr>
        <p:spPr>
          <a:xfrm>
            <a:off x="0" y="310960"/>
            <a:ext cx="8799006" cy="734069"/>
          </a:xfrm>
        </p:spPr>
        <p:txBody>
          <a:bodyPr anchor="t">
            <a:normAutofit/>
          </a:bodyPr>
          <a:lstStyle/>
          <a:p>
            <a:pPr algn="l"/>
            <a:r>
              <a:rPr lang="en-IN" sz="3200" b="1" dirty="0">
                <a:solidFill>
                  <a:schemeClr val="accent2">
                    <a:lumMod val="50000"/>
                  </a:schemeClr>
                </a:solidFill>
                <a:latin typeface="+mn-lt"/>
              </a:rPr>
              <a:t>Task Completed  </a:t>
            </a:r>
          </a:p>
        </p:txBody>
      </p:sp>
      <p:sp>
        <p:nvSpPr>
          <p:cNvPr id="3" name="Subtitle 2">
            <a:extLst>
              <a:ext uri="{FF2B5EF4-FFF2-40B4-BE49-F238E27FC236}">
                <a16:creationId xmlns:a16="http://schemas.microsoft.com/office/drawing/2014/main" id="{8706C532-914A-E0A3-A6B7-C6EF888BF6C9}"/>
              </a:ext>
            </a:extLst>
          </p:cNvPr>
          <p:cNvSpPr>
            <a:spLocks noGrp="1"/>
          </p:cNvSpPr>
          <p:nvPr>
            <p:ph type="subTitle" idx="1"/>
          </p:nvPr>
        </p:nvSpPr>
        <p:spPr>
          <a:xfrm>
            <a:off x="0" y="1045029"/>
            <a:ext cx="10668000" cy="4212771"/>
          </a:xfrm>
        </p:spPr>
        <p:txBody>
          <a:bodyPr>
            <a:normAutofit/>
          </a:bodyPr>
          <a:lstStyle/>
          <a:p>
            <a:pPr marL="342900" indent="-342900" algn="just">
              <a:buFont typeface="Arial" panose="020B0604020202020204" pitchFamily="34" charset="0"/>
              <a:buChar char="•"/>
            </a:pPr>
            <a:r>
              <a:rPr lang="en-IN" dirty="0"/>
              <a:t>Data Walkthrough</a:t>
            </a:r>
          </a:p>
          <a:p>
            <a:pPr marL="342900" indent="-342900" algn="just">
              <a:buFont typeface="Arial" panose="020B0604020202020204" pitchFamily="34" charset="0"/>
              <a:buChar char="•"/>
            </a:pPr>
            <a:r>
              <a:rPr lang="en-IN" dirty="0"/>
              <a:t>Raw Data file preparation</a:t>
            </a:r>
          </a:p>
          <a:p>
            <a:pPr marL="342900" indent="-342900" algn="just">
              <a:buFont typeface="Arial" panose="020B0604020202020204" pitchFamily="34" charset="0"/>
              <a:buChar char="•"/>
            </a:pPr>
            <a:r>
              <a:rPr lang="en-IN" dirty="0"/>
              <a:t>Creating Database</a:t>
            </a:r>
          </a:p>
          <a:p>
            <a:pPr marL="342900" indent="-342900" algn="just">
              <a:buFont typeface="Arial" panose="020B0604020202020204" pitchFamily="34" charset="0"/>
              <a:buChar char="•"/>
            </a:pPr>
            <a:r>
              <a:rPr lang="en-IN" dirty="0"/>
              <a:t>Importing File </a:t>
            </a:r>
          </a:p>
          <a:p>
            <a:pPr marL="342900" indent="-342900" algn="just">
              <a:buFont typeface="Arial" panose="020B0604020202020204" pitchFamily="34" charset="0"/>
              <a:buChar char="•"/>
            </a:pPr>
            <a:r>
              <a:rPr lang="en-IN" dirty="0"/>
              <a:t>Cleaning imported File</a:t>
            </a:r>
          </a:p>
          <a:p>
            <a:pPr marL="342900" indent="-342900" algn="just">
              <a:buFont typeface="Arial" panose="020B0604020202020204" pitchFamily="34" charset="0"/>
              <a:buChar char="•"/>
            </a:pPr>
            <a:r>
              <a:rPr lang="en-IN" dirty="0"/>
              <a:t>Changing Data Types</a:t>
            </a:r>
          </a:p>
          <a:p>
            <a:pPr marL="342900" indent="-342900" algn="just">
              <a:buFont typeface="Arial" panose="020B0604020202020204" pitchFamily="34" charset="0"/>
              <a:buChar char="•"/>
            </a:pPr>
            <a:r>
              <a:rPr lang="en-IN" dirty="0"/>
              <a:t>Firing SQL Queries for Business Requirements</a:t>
            </a:r>
          </a:p>
          <a:p>
            <a:pPr algn="just"/>
            <a:endParaRPr lang="en-IN" dirty="0"/>
          </a:p>
        </p:txBody>
      </p:sp>
      <p:pic>
        <p:nvPicPr>
          <p:cNvPr id="4" name="Picture 3">
            <a:extLst>
              <a:ext uri="{FF2B5EF4-FFF2-40B4-BE49-F238E27FC236}">
                <a16:creationId xmlns:a16="http://schemas.microsoft.com/office/drawing/2014/main" id="{997CEEDB-9C8C-3EF4-8702-847240BE7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spTree>
    <p:extLst>
      <p:ext uri="{BB962C8B-B14F-4D97-AF65-F5344CB8AC3E}">
        <p14:creationId xmlns:p14="http://schemas.microsoft.com/office/powerpoint/2010/main" val="2716258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E3414172-002C-72D2-8E4C-BAB9DC18A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B085A-A827-EA8B-194E-43519D72AF26}"/>
              </a:ext>
            </a:extLst>
          </p:cNvPr>
          <p:cNvSpPr>
            <a:spLocks noGrp="1"/>
          </p:cNvSpPr>
          <p:nvPr>
            <p:ph type="ctrTitle"/>
          </p:nvPr>
        </p:nvSpPr>
        <p:spPr>
          <a:xfrm>
            <a:off x="0" y="255851"/>
            <a:ext cx="6096000" cy="957130"/>
          </a:xfrm>
        </p:spPr>
        <p:txBody>
          <a:bodyPr anchor="t">
            <a:normAutofit/>
          </a:bodyPr>
          <a:lstStyle/>
          <a:p>
            <a:pPr algn="just"/>
            <a:r>
              <a:rPr lang="en-IN" sz="3200" b="1" dirty="0">
                <a:solidFill>
                  <a:schemeClr val="accent2">
                    <a:lumMod val="50000"/>
                  </a:schemeClr>
                </a:solidFill>
                <a:latin typeface="+mn-lt"/>
              </a:rPr>
              <a:t>Total Sales</a:t>
            </a:r>
            <a:r>
              <a:rPr lang="en-IN" sz="3200" b="1" kern="100" dirty="0">
                <a:solidFill>
                  <a:schemeClr val="accent2">
                    <a:lumMod val="50000"/>
                  </a:schemeClr>
                </a:solidFill>
                <a:effectLst/>
                <a:latin typeface="+mn-lt"/>
                <a:ea typeface="Calibri" panose="020F0502020204030204" pitchFamily="34" charset="0"/>
                <a:cs typeface="Mangal" panose="02040503050203030202" pitchFamily="18" charset="0"/>
              </a:rPr>
              <a:t> KPI</a:t>
            </a:r>
            <a:endParaRPr lang="en-IN" sz="3200" b="1" dirty="0">
              <a:solidFill>
                <a:schemeClr val="accent2">
                  <a:lumMod val="50000"/>
                </a:schemeClr>
              </a:solidFill>
              <a:latin typeface="+mn-lt"/>
            </a:endParaRPr>
          </a:p>
        </p:txBody>
      </p:sp>
      <p:sp>
        <p:nvSpPr>
          <p:cNvPr id="5" name="TextBox 4">
            <a:extLst>
              <a:ext uri="{FF2B5EF4-FFF2-40B4-BE49-F238E27FC236}">
                <a16:creationId xmlns:a16="http://schemas.microsoft.com/office/drawing/2014/main" id="{6AE16E96-63D5-F9CA-B128-1C44A9D82F38}"/>
              </a:ext>
            </a:extLst>
          </p:cNvPr>
          <p:cNvSpPr txBox="1"/>
          <p:nvPr/>
        </p:nvSpPr>
        <p:spPr>
          <a:xfrm>
            <a:off x="0" y="895738"/>
            <a:ext cx="5585928" cy="1815882"/>
          </a:xfrm>
          <a:prstGeom prst="rect">
            <a:avLst/>
          </a:prstGeom>
          <a:noFill/>
        </p:spPr>
        <p:txBody>
          <a:bodyPr wrap="square" rtlCol="0">
            <a:spAutoFit/>
          </a:bodyPr>
          <a:lstStyle/>
          <a:p>
            <a:r>
              <a:rPr lang="en-US" sz="1600" dirty="0"/>
              <a:t>SELECT </a:t>
            </a:r>
          </a:p>
          <a:p>
            <a:r>
              <a:rPr lang="en-US" sz="1600" dirty="0"/>
              <a:t>    ROUND(SUM(unit_price * transaction_qty)) as Total_Sales FROM</a:t>
            </a:r>
          </a:p>
          <a:p>
            <a:r>
              <a:rPr lang="en-US" sz="1600" dirty="0"/>
              <a:t>     coffee_shop_sales </a:t>
            </a:r>
          </a:p>
          <a:p>
            <a:r>
              <a:rPr lang="en-IN" sz="1600" dirty="0"/>
              <a:t>WHERE</a:t>
            </a:r>
            <a:r>
              <a:rPr lang="en-US" sz="1600" dirty="0"/>
              <a:t> </a:t>
            </a:r>
          </a:p>
          <a:p>
            <a:r>
              <a:rPr lang="en-US" sz="1600" dirty="0"/>
              <a:t>     MONTH(transaction_date) = 5</a:t>
            </a:r>
          </a:p>
          <a:p>
            <a:r>
              <a:rPr lang="en-US" sz="1600" dirty="0"/>
              <a:t>       -- for month of (CM-May)</a:t>
            </a:r>
            <a:endParaRPr lang="en-IN" sz="1600" dirty="0"/>
          </a:p>
        </p:txBody>
      </p:sp>
      <p:pic>
        <p:nvPicPr>
          <p:cNvPr id="7" name="Picture 6">
            <a:extLst>
              <a:ext uri="{FF2B5EF4-FFF2-40B4-BE49-F238E27FC236}">
                <a16:creationId xmlns:a16="http://schemas.microsoft.com/office/drawing/2014/main" id="{167F3930-A953-B755-ED4E-44426B587618}"/>
              </a:ext>
            </a:extLst>
          </p:cNvPr>
          <p:cNvPicPr>
            <a:picLocks noChangeAspect="1"/>
          </p:cNvPicPr>
          <p:nvPr/>
        </p:nvPicPr>
        <p:blipFill>
          <a:blip r:embed="rId2"/>
          <a:stretch>
            <a:fillRect/>
          </a:stretch>
        </p:blipFill>
        <p:spPr>
          <a:xfrm>
            <a:off x="447166" y="2905733"/>
            <a:ext cx="2910433" cy="1341527"/>
          </a:xfrm>
          <a:prstGeom prst="rect">
            <a:avLst/>
          </a:prstGeom>
        </p:spPr>
      </p:pic>
      <p:pic>
        <p:nvPicPr>
          <p:cNvPr id="6" name="Picture 5">
            <a:extLst>
              <a:ext uri="{FF2B5EF4-FFF2-40B4-BE49-F238E27FC236}">
                <a16:creationId xmlns:a16="http://schemas.microsoft.com/office/drawing/2014/main" id="{FC169815-265B-1E64-897E-4A12D0E0E7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20B54ABC-DDF6-0FA4-4261-89E149925544}"/>
              </a:ext>
            </a:extLst>
          </p:cNvPr>
          <p:cNvPicPr>
            <a:picLocks noChangeAspect="1"/>
          </p:cNvPicPr>
          <p:nvPr/>
        </p:nvPicPr>
        <p:blipFill>
          <a:blip r:embed="rId4"/>
          <a:stretch>
            <a:fillRect/>
          </a:stretch>
        </p:blipFill>
        <p:spPr>
          <a:xfrm>
            <a:off x="3887006" y="2905733"/>
            <a:ext cx="6005250" cy="2641605"/>
          </a:xfrm>
          <a:prstGeom prst="rect">
            <a:avLst/>
          </a:prstGeom>
        </p:spPr>
      </p:pic>
    </p:spTree>
    <p:extLst>
      <p:ext uri="{BB962C8B-B14F-4D97-AF65-F5344CB8AC3E}">
        <p14:creationId xmlns:p14="http://schemas.microsoft.com/office/powerpoint/2010/main" val="205873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A8612C7D-E88D-271A-8F43-FF4E9359A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D8859-E6BF-F5D9-D978-5EE6BF5E0DA1}"/>
              </a:ext>
            </a:extLst>
          </p:cNvPr>
          <p:cNvSpPr>
            <a:spLocks noGrp="1"/>
          </p:cNvSpPr>
          <p:nvPr>
            <p:ph type="ctrTitle"/>
          </p:nvPr>
        </p:nvSpPr>
        <p:spPr>
          <a:xfrm>
            <a:off x="0" y="34777"/>
            <a:ext cx="10235682" cy="1523433"/>
          </a:xfrm>
        </p:spPr>
        <p:txBody>
          <a:bodyPr anchor="t">
            <a:normAutofit/>
          </a:bodyPr>
          <a:lstStyle/>
          <a:p>
            <a:pPr algn="l"/>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TOTAL SALES KPI - MOM DIFFERENCE AND MOM GROWTH</a:t>
            </a:r>
            <a:br>
              <a:rPr lang="en-IN" sz="3200"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endParaRPr lang="en-IN" sz="3200" dirty="0">
              <a:solidFill>
                <a:schemeClr val="accent2">
                  <a:lumMod val="50000"/>
                </a:schemeClr>
              </a:solidFill>
            </a:endParaRPr>
          </a:p>
        </p:txBody>
      </p:sp>
      <p:sp>
        <p:nvSpPr>
          <p:cNvPr id="3" name="Subtitle 2">
            <a:extLst>
              <a:ext uri="{FF2B5EF4-FFF2-40B4-BE49-F238E27FC236}">
                <a16:creationId xmlns:a16="http://schemas.microsoft.com/office/drawing/2014/main" id="{1C1020C2-0582-8F1F-E6FC-57C50BE9E02C}"/>
              </a:ext>
            </a:extLst>
          </p:cNvPr>
          <p:cNvSpPr>
            <a:spLocks noGrp="1"/>
          </p:cNvSpPr>
          <p:nvPr>
            <p:ph type="subTitle" idx="1"/>
          </p:nvPr>
        </p:nvSpPr>
        <p:spPr>
          <a:xfrm>
            <a:off x="0" y="678270"/>
            <a:ext cx="9249747" cy="4842588"/>
          </a:xfrm>
        </p:spPr>
        <p:txBody>
          <a:bodyPr>
            <a:noAutofit/>
          </a:bodyPr>
          <a:lstStyle/>
          <a:p>
            <a:pPr algn="l">
              <a:lnSpc>
                <a:spcPct val="100000"/>
              </a:lnSpc>
              <a:spcBef>
                <a:spcPts val="0"/>
              </a:spcBef>
            </a:pPr>
            <a:r>
              <a:rPr lang="en-US" sz="1600" dirty="0"/>
              <a:t>SELECT     </a:t>
            </a:r>
          </a:p>
          <a:p>
            <a:pPr algn="l">
              <a:lnSpc>
                <a:spcPct val="100000"/>
              </a:lnSpc>
              <a:spcBef>
                <a:spcPts val="0"/>
              </a:spcBef>
            </a:pPr>
            <a:r>
              <a:rPr lang="en-US" sz="1600" dirty="0"/>
              <a:t>     MONTH(transaction_date) AS month,   </a:t>
            </a:r>
          </a:p>
          <a:p>
            <a:pPr algn="l">
              <a:lnSpc>
                <a:spcPct val="100000"/>
              </a:lnSpc>
              <a:spcBef>
                <a:spcPts val="0"/>
              </a:spcBef>
            </a:pPr>
            <a:r>
              <a:rPr lang="en-US" sz="1600" dirty="0"/>
              <a:t>     ROUND(SUM(unit_price * transaction_qty)) AS total_sales,   </a:t>
            </a:r>
          </a:p>
          <a:p>
            <a:pPr algn="l">
              <a:lnSpc>
                <a:spcPct val="100000"/>
              </a:lnSpc>
              <a:spcBef>
                <a:spcPts val="0"/>
              </a:spcBef>
            </a:pPr>
            <a:r>
              <a:rPr lang="en-US" sz="1600" dirty="0"/>
              <a:t>     (SUM(unit_price * transaction_qty) - LAG(SUM(unit_price * transaction_qty), 1)    </a:t>
            </a:r>
          </a:p>
          <a:p>
            <a:pPr algn="l">
              <a:lnSpc>
                <a:spcPct val="100000"/>
              </a:lnSpc>
              <a:spcBef>
                <a:spcPts val="0"/>
              </a:spcBef>
            </a:pPr>
            <a:r>
              <a:rPr lang="en-US" sz="1600" dirty="0"/>
              <a:t>OVER</a:t>
            </a:r>
          </a:p>
          <a:p>
            <a:pPr algn="l">
              <a:lnSpc>
                <a:spcPct val="100000"/>
              </a:lnSpc>
              <a:spcBef>
                <a:spcPts val="0"/>
              </a:spcBef>
            </a:pPr>
            <a:r>
              <a:rPr lang="en-US" sz="1600" dirty="0"/>
              <a:t>     (ORDER BY MONTH(transaction_date))) / LAG(SUM(unit_price * transaction_qty), 1)     </a:t>
            </a:r>
          </a:p>
          <a:p>
            <a:pPr algn="l">
              <a:lnSpc>
                <a:spcPct val="100000"/>
              </a:lnSpc>
              <a:spcBef>
                <a:spcPts val="0"/>
              </a:spcBef>
            </a:pPr>
            <a:r>
              <a:rPr lang="en-US" sz="1600" dirty="0"/>
              <a:t>OVER </a:t>
            </a:r>
          </a:p>
          <a:p>
            <a:pPr algn="l">
              <a:lnSpc>
                <a:spcPct val="100000"/>
              </a:lnSpc>
              <a:spcBef>
                <a:spcPts val="0"/>
              </a:spcBef>
            </a:pPr>
            <a:r>
              <a:rPr lang="en-US" sz="1600" dirty="0"/>
              <a:t>      (ORDER BY MONTH(transaction_date)) * 100 AS mom_increase_percentage</a:t>
            </a:r>
          </a:p>
          <a:p>
            <a:pPr algn="l">
              <a:lnSpc>
                <a:spcPct val="100000"/>
              </a:lnSpc>
              <a:spcBef>
                <a:spcPts val="0"/>
              </a:spcBef>
            </a:pPr>
            <a:r>
              <a:rPr lang="en-US" sz="1600" dirty="0"/>
              <a:t>FROM  coffee_shop_sales</a:t>
            </a:r>
          </a:p>
          <a:p>
            <a:pPr algn="l">
              <a:lnSpc>
                <a:spcPct val="100000"/>
              </a:lnSpc>
              <a:spcBef>
                <a:spcPts val="0"/>
              </a:spcBef>
            </a:pPr>
            <a:r>
              <a:rPr lang="en-US" sz="1600" dirty="0"/>
              <a:t>WHERE  </a:t>
            </a:r>
          </a:p>
          <a:p>
            <a:pPr algn="l">
              <a:lnSpc>
                <a:spcPct val="100000"/>
              </a:lnSpc>
              <a:spcBef>
                <a:spcPts val="0"/>
              </a:spcBef>
            </a:pPr>
            <a:r>
              <a:rPr lang="en-US" sz="1600" dirty="0"/>
              <a:t>      MONTH(transaction_date) IN (4, 5) -- for months of April and May</a:t>
            </a:r>
          </a:p>
          <a:p>
            <a:pPr algn="l">
              <a:lnSpc>
                <a:spcPct val="100000"/>
              </a:lnSpc>
              <a:spcBef>
                <a:spcPts val="0"/>
              </a:spcBef>
            </a:pPr>
            <a:r>
              <a:rPr lang="en-US" sz="1600" dirty="0"/>
              <a:t>GROUP BY   </a:t>
            </a:r>
          </a:p>
          <a:p>
            <a:pPr algn="l">
              <a:lnSpc>
                <a:spcPct val="100000"/>
              </a:lnSpc>
              <a:spcBef>
                <a:spcPts val="0"/>
              </a:spcBef>
            </a:pPr>
            <a:r>
              <a:rPr lang="en-US" sz="1600" dirty="0"/>
              <a:t>       MONTH(transaction_date)</a:t>
            </a:r>
          </a:p>
          <a:p>
            <a:pPr algn="l">
              <a:lnSpc>
                <a:spcPct val="100000"/>
              </a:lnSpc>
              <a:spcBef>
                <a:spcPts val="0"/>
              </a:spcBef>
            </a:pPr>
            <a:r>
              <a:rPr lang="en-US" sz="1600" dirty="0"/>
              <a:t>ORDER BY </a:t>
            </a:r>
          </a:p>
          <a:p>
            <a:pPr algn="l">
              <a:lnSpc>
                <a:spcPct val="100000"/>
              </a:lnSpc>
              <a:spcBef>
                <a:spcPts val="0"/>
              </a:spcBef>
            </a:pPr>
            <a:r>
              <a:rPr lang="en-US" sz="1600" dirty="0"/>
              <a:t>        MONTH(transaction_date);</a:t>
            </a:r>
            <a:endParaRPr lang="en-IN" sz="1600" dirty="0"/>
          </a:p>
        </p:txBody>
      </p:sp>
      <p:pic>
        <p:nvPicPr>
          <p:cNvPr id="7" name="Picture 6">
            <a:extLst>
              <a:ext uri="{FF2B5EF4-FFF2-40B4-BE49-F238E27FC236}">
                <a16:creationId xmlns:a16="http://schemas.microsoft.com/office/drawing/2014/main" id="{CE5E8023-0E02-104A-7334-97374CC0D97E}"/>
              </a:ext>
            </a:extLst>
          </p:cNvPr>
          <p:cNvPicPr>
            <a:picLocks noChangeAspect="1"/>
          </p:cNvPicPr>
          <p:nvPr/>
        </p:nvPicPr>
        <p:blipFill>
          <a:blip r:embed="rId2"/>
          <a:stretch>
            <a:fillRect/>
          </a:stretch>
        </p:blipFill>
        <p:spPr>
          <a:xfrm>
            <a:off x="151587" y="4640918"/>
            <a:ext cx="4621021" cy="1600200"/>
          </a:xfrm>
          <a:prstGeom prst="rect">
            <a:avLst/>
          </a:prstGeom>
        </p:spPr>
      </p:pic>
      <p:pic>
        <p:nvPicPr>
          <p:cNvPr id="5" name="Picture 4">
            <a:extLst>
              <a:ext uri="{FF2B5EF4-FFF2-40B4-BE49-F238E27FC236}">
                <a16:creationId xmlns:a16="http://schemas.microsoft.com/office/drawing/2014/main" id="{F31224C4-116C-DEDE-CC76-54886CEB7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6" name="Picture 5">
            <a:extLst>
              <a:ext uri="{FF2B5EF4-FFF2-40B4-BE49-F238E27FC236}">
                <a16:creationId xmlns:a16="http://schemas.microsoft.com/office/drawing/2014/main" id="{BDC2080A-7EDB-C3A8-2A8B-DE153D0053FD}"/>
              </a:ext>
            </a:extLst>
          </p:cNvPr>
          <p:cNvPicPr>
            <a:picLocks noChangeAspect="1"/>
          </p:cNvPicPr>
          <p:nvPr/>
        </p:nvPicPr>
        <p:blipFill>
          <a:blip r:embed="rId4"/>
          <a:stretch>
            <a:fillRect/>
          </a:stretch>
        </p:blipFill>
        <p:spPr>
          <a:xfrm>
            <a:off x="5020612" y="4640918"/>
            <a:ext cx="2896004" cy="1809081"/>
          </a:xfrm>
          <a:prstGeom prst="rect">
            <a:avLst/>
          </a:prstGeom>
        </p:spPr>
      </p:pic>
    </p:spTree>
    <p:extLst>
      <p:ext uri="{BB962C8B-B14F-4D97-AF65-F5344CB8AC3E}">
        <p14:creationId xmlns:p14="http://schemas.microsoft.com/office/powerpoint/2010/main" val="142260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B693-73FF-4C43-6C26-82A250ECA160}"/>
              </a:ext>
            </a:extLst>
          </p:cNvPr>
          <p:cNvSpPr>
            <a:spLocks noGrp="1"/>
          </p:cNvSpPr>
          <p:nvPr>
            <p:ph type="ctrTitle"/>
          </p:nvPr>
        </p:nvSpPr>
        <p:spPr>
          <a:xfrm>
            <a:off x="-1" y="34778"/>
            <a:ext cx="6571861" cy="1424117"/>
          </a:xfrm>
        </p:spPr>
        <p:txBody>
          <a:bodyPr anchor="t">
            <a:noAutofit/>
          </a:bodyPr>
          <a:lstStyle/>
          <a:p>
            <a:pPr algn="l"/>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TOTAL ORDERS</a:t>
            </a:r>
            <a:b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endParaRPr lang="en-IN" sz="3200" b="1" dirty="0">
              <a:solidFill>
                <a:schemeClr val="accent2">
                  <a:lumMod val="50000"/>
                </a:schemeClr>
              </a:solidFill>
            </a:endParaRPr>
          </a:p>
        </p:txBody>
      </p:sp>
      <p:sp>
        <p:nvSpPr>
          <p:cNvPr id="3" name="Subtitle 2">
            <a:extLst>
              <a:ext uri="{FF2B5EF4-FFF2-40B4-BE49-F238E27FC236}">
                <a16:creationId xmlns:a16="http://schemas.microsoft.com/office/drawing/2014/main" id="{A570C50D-BCCC-5907-84F4-7D8C777A3BFE}"/>
              </a:ext>
            </a:extLst>
          </p:cNvPr>
          <p:cNvSpPr>
            <a:spLocks noGrp="1"/>
          </p:cNvSpPr>
          <p:nvPr>
            <p:ph type="subTitle" idx="1"/>
          </p:nvPr>
        </p:nvSpPr>
        <p:spPr>
          <a:xfrm>
            <a:off x="0" y="737118"/>
            <a:ext cx="9209314" cy="3349690"/>
          </a:xfrm>
        </p:spPr>
        <p:txBody>
          <a:bodyPr>
            <a:noAutofit/>
          </a:bodyPr>
          <a:lstStyle/>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endParaRPr lang="en-IN" sz="1600" kern="100" dirty="0">
              <a:latin typeface="Calibri" panose="020F0502020204030204" pitchFamily="34" charset="0"/>
              <a:ea typeface="Calibri" panose="020F0502020204030204" pitchFamily="34" charset="0"/>
              <a:cs typeface="Mangal" panose="02040503050203030202" pitchFamily="18" charset="0"/>
            </a:endParaRPr>
          </a:p>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     COUNT(transaction_id) as Total_Orders</a:t>
            </a:r>
          </a:p>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p>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 </a:t>
            </a:r>
          </a:p>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p>
          <a:p>
            <a:pPr algn="just">
              <a:lnSpc>
                <a:spcPct val="100000"/>
              </a:lnSpc>
              <a:spcBef>
                <a:spcPts val="0"/>
              </a:spcBef>
              <a:spcAft>
                <a:spcPts val="800"/>
              </a:spcAft>
            </a:pPr>
            <a:r>
              <a:rPr lang="en-IN" sz="1600" kern="100" dirty="0">
                <a:effectLst/>
                <a:latin typeface="Calibri" panose="020F0502020204030204" pitchFamily="34" charset="0"/>
                <a:ea typeface="Calibri" panose="020F0502020204030204" pitchFamily="34" charset="0"/>
                <a:cs typeface="Mangal" panose="02040503050203030202" pitchFamily="18" charset="0"/>
              </a:rPr>
              <a:t>      MONTH (transaction_date)= 5 -- for month of (CM-May)</a:t>
            </a:r>
          </a:p>
          <a:p>
            <a:pPr algn="just">
              <a:lnSpc>
                <a:spcPct val="100000"/>
              </a:lnSpc>
              <a:spcBef>
                <a:spcPts val="0"/>
              </a:spcBef>
              <a:spcAft>
                <a:spcPts val="800"/>
              </a:spcAft>
            </a:pP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00000"/>
              </a:lnSpc>
              <a:spcBef>
                <a:spcPts val="0"/>
              </a:spcBef>
            </a:pPr>
            <a:endParaRPr lang="en-IN" sz="1600" dirty="0"/>
          </a:p>
        </p:txBody>
      </p:sp>
      <p:pic>
        <p:nvPicPr>
          <p:cNvPr id="5" name="Picture 4">
            <a:extLst>
              <a:ext uri="{FF2B5EF4-FFF2-40B4-BE49-F238E27FC236}">
                <a16:creationId xmlns:a16="http://schemas.microsoft.com/office/drawing/2014/main" id="{2D59D5F6-60A4-D2CD-1AC9-86089DDBBE27}"/>
              </a:ext>
            </a:extLst>
          </p:cNvPr>
          <p:cNvPicPr>
            <a:picLocks noChangeAspect="1"/>
          </p:cNvPicPr>
          <p:nvPr/>
        </p:nvPicPr>
        <p:blipFill>
          <a:blip r:embed="rId2"/>
          <a:stretch>
            <a:fillRect/>
          </a:stretch>
        </p:blipFill>
        <p:spPr>
          <a:xfrm>
            <a:off x="719442" y="2965370"/>
            <a:ext cx="2994144" cy="1961193"/>
          </a:xfrm>
          <a:prstGeom prst="rect">
            <a:avLst/>
          </a:prstGeom>
        </p:spPr>
      </p:pic>
      <p:pic>
        <p:nvPicPr>
          <p:cNvPr id="6" name="Picture 5">
            <a:extLst>
              <a:ext uri="{FF2B5EF4-FFF2-40B4-BE49-F238E27FC236}">
                <a16:creationId xmlns:a16="http://schemas.microsoft.com/office/drawing/2014/main" id="{841282B2-C6C9-D5D0-7EBD-FAE35665C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7" name="Picture 6">
            <a:extLst>
              <a:ext uri="{FF2B5EF4-FFF2-40B4-BE49-F238E27FC236}">
                <a16:creationId xmlns:a16="http://schemas.microsoft.com/office/drawing/2014/main" id="{EB96952D-2B39-00D5-CF69-A1C70E924B94}"/>
              </a:ext>
            </a:extLst>
          </p:cNvPr>
          <p:cNvPicPr>
            <a:picLocks noChangeAspect="1"/>
          </p:cNvPicPr>
          <p:nvPr/>
        </p:nvPicPr>
        <p:blipFill>
          <a:blip r:embed="rId4"/>
          <a:stretch>
            <a:fillRect/>
          </a:stretch>
        </p:blipFill>
        <p:spPr>
          <a:xfrm>
            <a:off x="4069452" y="2965370"/>
            <a:ext cx="4053096" cy="2657887"/>
          </a:xfrm>
          <a:prstGeom prst="rect">
            <a:avLst/>
          </a:prstGeom>
        </p:spPr>
      </p:pic>
    </p:spTree>
    <p:extLst>
      <p:ext uri="{BB962C8B-B14F-4D97-AF65-F5344CB8AC3E}">
        <p14:creationId xmlns:p14="http://schemas.microsoft.com/office/powerpoint/2010/main" val="406657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39AD4334-1E33-1F0C-CB9F-34033A75B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16C2C-0F6D-1E9F-F024-A755407AA3BB}"/>
              </a:ext>
            </a:extLst>
          </p:cNvPr>
          <p:cNvSpPr>
            <a:spLocks noGrp="1"/>
          </p:cNvSpPr>
          <p:nvPr>
            <p:ph type="ctrTitle"/>
          </p:nvPr>
        </p:nvSpPr>
        <p:spPr>
          <a:xfrm>
            <a:off x="0" y="34778"/>
            <a:ext cx="10667998" cy="832971"/>
          </a:xfrm>
        </p:spPr>
        <p:txBody>
          <a:bodyPr anchor="t">
            <a:noAutofit/>
          </a:bodyPr>
          <a:lstStyle/>
          <a:p>
            <a:pPr algn="l"/>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TOTAL ORDERS KPI - MOM DIFFERENCE AND MOM GROWTH</a:t>
            </a:r>
            <a:b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endParaRPr lang="en-IN" sz="3200" b="1" dirty="0">
              <a:solidFill>
                <a:schemeClr val="accent2">
                  <a:lumMod val="50000"/>
                </a:schemeClr>
              </a:solidFill>
            </a:endParaRPr>
          </a:p>
        </p:txBody>
      </p:sp>
      <p:sp>
        <p:nvSpPr>
          <p:cNvPr id="3" name="Subtitle 2">
            <a:extLst>
              <a:ext uri="{FF2B5EF4-FFF2-40B4-BE49-F238E27FC236}">
                <a16:creationId xmlns:a16="http://schemas.microsoft.com/office/drawing/2014/main" id="{5454B134-1019-1FB8-2225-5ABDE92F61A4}"/>
              </a:ext>
            </a:extLst>
          </p:cNvPr>
          <p:cNvSpPr>
            <a:spLocks noGrp="1"/>
          </p:cNvSpPr>
          <p:nvPr>
            <p:ph type="subTitle" idx="1"/>
          </p:nvPr>
        </p:nvSpPr>
        <p:spPr>
          <a:xfrm>
            <a:off x="65314" y="419878"/>
            <a:ext cx="12126686" cy="4861249"/>
          </a:xfrm>
        </p:spPr>
        <p:txBody>
          <a:bodyPr anchor="ctr">
            <a:noAutofit/>
          </a:bodyPr>
          <a:lstStyle/>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SELECT </a:t>
            </a:r>
            <a:endParaRPr lang="en-IN" sz="1600" kern="100" dirty="0">
              <a:ea typeface="Calibri" panose="020F0502020204030204" pitchFamily="34" charset="0"/>
              <a:cs typeface="Mangal" panose="02040503050203030202" pitchFamily="18" charset="0"/>
            </a:endParaRP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MONTH(transaction_date) AS month, ROUND(COUNT(transaction_id)) AS total_orders,</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(COUNT(transaction_id) - LAG(COUNT(transaction_id), 1)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OVER (ORDER BY MONTH(transaction_date)))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LAG(COUNT(transaction_id), 1) OVER (ORDER BY MONTH(transaction_date)) * 100AS mom_increase_percentage</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FROM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coffee_shop_sales</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WHERE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MONTH(transaction_date) IN (4, 5) -- for April and May</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GROUP BY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MONTH(transaction_date)</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ORDER BY </a:t>
            </a:r>
          </a:p>
          <a:p>
            <a:pPr algn="l">
              <a:lnSpc>
                <a:spcPct val="100000"/>
              </a:lnSpc>
              <a:spcBef>
                <a:spcPts val="0"/>
              </a:spcBef>
              <a:spcAft>
                <a:spcPts val="800"/>
              </a:spcAft>
            </a:pPr>
            <a:r>
              <a:rPr lang="en-IN" sz="1600" kern="100" dirty="0">
                <a:effectLst/>
                <a:ea typeface="Calibri" panose="020F0502020204030204" pitchFamily="34" charset="0"/>
                <a:cs typeface="Mangal" panose="02040503050203030202" pitchFamily="18" charset="0"/>
              </a:rPr>
              <a:t>    MONTH(transaction_date);</a:t>
            </a:r>
          </a:p>
          <a:p>
            <a:pPr algn="l">
              <a:lnSpc>
                <a:spcPct val="100000"/>
              </a:lnSpc>
              <a:spcBef>
                <a:spcPts val="0"/>
              </a:spcBef>
            </a:pPr>
            <a:endParaRPr lang="en-IN" sz="1600" dirty="0"/>
          </a:p>
        </p:txBody>
      </p:sp>
      <p:pic>
        <p:nvPicPr>
          <p:cNvPr id="5" name="Picture 4">
            <a:extLst>
              <a:ext uri="{FF2B5EF4-FFF2-40B4-BE49-F238E27FC236}">
                <a16:creationId xmlns:a16="http://schemas.microsoft.com/office/drawing/2014/main" id="{2A539915-7C9F-48C9-BA3B-A62BB6758914}"/>
              </a:ext>
            </a:extLst>
          </p:cNvPr>
          <p:cNvPicPr>
            <a:picLocks noChangeAspect="1"/>
          </p:cNvPicPr>
          <p:nvPr/>
        </p:nvPicPr>
        <p:blipFill>
          <a:blip r:embed="rId2"/>
          <a:stretch>
            <a:fillRect/>
          </a:stretch>
        </p:blipFill>
        <p:spPr>
          <a:xfrm>
            <a:off x="599596" y="5190555"/>
            <a:ext cx="4382963" cy="1247567"/>
          </a:xfrm>
          <a:prstGeom prst="rect">
            <a:avLst/>
          </a:prstGeom>
        </p:spPr>
      </p:pic>
      <p:pic>
        <p:nvPicPr>
          <p:cNvPr id="6" name="Picture 5">
            <a:extLst>
              <a:ext uri="{FF2B5EF4-FFF2-40B4-BE49-F238E27FC236}">
                <a16:creationId xmlns:a16="http://schemas.microsoft.com/office/drawing/2014/main" id="{CF13E5B5-B70F-AC85-F843-8D2C736BB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7" name="Picture 6">
            <a:extLst>
              <a:ext uri="{FF2B5EF4-FFF2-40B4-BE49-F238E27FC236}">
                <a16:creationId xmlns:a16="http://schemas.microsoft.com/office/drawing/2014/main" id="{6A2CA0B5-D858-3A5E-82CB-184E9A843308}"/>
              </a:ext>
            </a:extLst>
          </p:cNvPr>
          <p:cNvPicPr>
            <a:picLocks noChangeAspect="1"/>
          </p:cNvPicPr>
          <p:nvPr/>
        </p:nvPicPr>
        <p:blipFill>
          <a:blip r:embed="rId4"/>
          <a:stretch>
            <a:fillRect/>
          </a:stretch>
        </p:blipFill>
        <p:spPr>
          <a:xfrm>
            <a:off x="5333999" y="4680955"/>
            <a:ext cx="4382963" cy="1970543"/>
          </a:xfrm>
          <a:prstGeom prst="rect">
            <a:avLst/>
          </a:prstGeom>
        </p:spPr>
      </p:pic>
    </p:spTree>
    <p:extLst>
      <p:ext uri="{BB962C8B-B14F-4D97-AF65-F5344CB8AC3E}">
        <p14:creationId xmlns:p14="http://schemas.microsoft.com/office/powerpoint/2010/main" val="23019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776EDBAB-90BE-970D-C988-C6A8F957F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0723E-5C2C-F2B2-7F1A-8F69A9E905CD}"/>
              </a:ext>
            </a:extLst>
          </p:cNvPr>
          <p:cNvSpPr>
            <a:spLocks noGrp="1"/>
          </p:cNvSpPr>
          <p:nvPr>
            <p:ph type="ctrTitle"/>
          </p:nvPr>
        </p:nvSpPr>
        <p:spPr>
          <a:xfrm>
            <a:off x="0" y="93307"/>
            <a:ext cx="10668000" cy="4450702"/>
          </a:xfrm>
        </p:spPr>
        <p:txBody>
          <a:bodyPr anchor="t">
            <a:normAutofit/>
          </a:bodyPr>
          <a:lstStyle/>
          <a:p>
            <a:pPr algn="l">
              <a:lnSpc>
                <a:spcPct val="107000"/>
              </a:lnSpc>
              <a:spcAft>
                <a:spcPts val="800"/>
              </a:spcAft>
            </a:pPr>
            <a: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TOTAL QUANTITY SOLD</a:t>
            </a:r>
            <a:br>
              <a:rPr lang="en-IN" sz="3600" b="1" kern="100" dirty="0">
                <a:solidFill>
                  <a:schemeClr val="accent2">
                    <a:lumMod val="50000"/>
                  </a:schemeClr>
                </a:solidFill>
                <a:latin typeface="Calibri" panose="020F0502020204030204" pitchFamily="34" charset="0"/>
                <a:ea typeface="Calibri" panose="020F0502020204030204" pitchFamily="34" charset="0"/>
                <a:cs typeface="Mangal" panose="02040503050203030202" pitchFamily="18" charset="0"/>
              </a:rPr>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SUM(transaction_qty) as Total_Quantity_Sold</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 for month of (CM-May)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5" name="Picture 4">
            <a:extLst>
              <a:ext uri="{FF2B5EF4-FFF2-40B4-BE49-F238E27FC236}">
                <a16:creationId xmlns:a16="http://schemas.microsoft.com/office/drawing/2014/main" id="{AFE0CEC8-D631-23F6-9F02-BD0F55F1469E}"/>
              </a:ext>
            </a:extLst>
          </p:cNvPr>
          <p:cNvPicPr>
            <a:picLocks noChangeAspect="1"/>
          </p:cNvPicPr>
          <p:nvPr/>
        </p:nvPicPr>
        <p:blipFill>
          <a:blip r:embed="rId2"/>
          <a:stretch>
            <a:fillRect/>
          </a:stretch>
        </p:blipFill>
        <p:spPr>
          <a:xfrm>
            <a:off x="602838" y="3346472"/>
            <a:ext cx="2311753" cy="1605560"/>
          </a:xfrm>
          <a:prstGeom prst="rect">
            <a:avLst/>
          </a:prstGeom>
        </p:spPr>
      </p:pic>
      <p:pic>
        <p:nvPicPr>
          <p:cNvPr id="6" name="Picture 5">
            <a:extLst>
              <a:ext uri="{FF2B5EF4-FFF2-40B4-BE49-F238E27FC236}">
                <a16:creationId xmlns:a16="http://schemas.microsoft.com/office/drawing/2014/main" id="{C63EB91E-15A1-E30E-747B-D87AC217C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6F898B6E-682D-7489-AC24-CB575158186F}"/>
              </a:ext>
            </a:extLst>
          </p:cNvPr>
          <p:cNvPicPr>
            <a:picLocks noChangeAspect="1"/>
          </p:cNvPicPr>
          <p:nvPr/>
        </p:nvPicPr>
        <p:blipFill>
          <a:blip r:embed="rId4"/>
          <a:stretch>
            <a:fillRect/>
          </a:stretch>
        </p:blipFill>
        <p:spPr>
          <a:xfrm>
            <a:off x="3133416" y="3327620"/>
            <a:ext cx="3038899" cy="1624412"/>
          </a:xfrm>
          <a:prstGeom prst="rect">
            <a:avLst/>
          </a:prstGeom>
        </p:spPr>
      </p:pic>
    </p:spTree>
    <p:extLst>
      <p:ext uri="{BB962C8B-B14F-4D97-AF65-F5344CB8AC3E}">
        <p14:creationId xmlns:p14="http://schemas.microsoft.com/office/powerpoint/2010/main" val="25372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AAA0B729-E318-F098-7D60-DBA5F1146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2B341-40C0-AC70-3BCA-E0231C87CF0A}"/>
              </a:ext>
            </a:extLst>
          </p:cNvPr>
          <p:cNvSpPr>
            <a:spLocks noGrp="1"/>
          </p:cNvSpPr>
          <p:nvPr>
            <p:ph type="ctrTitle"/>
          </p:nvPr>
        </p:nvSpPr>
        <p:spPr>
          <a:xfrm>
            <a:off x="0" y="90762"/>
            <a:ext cx="12191999" cy="6170080"/>
          </a:xfrm>
        </p:spPr>
        <p:txBody>
          <a:bodyPr anchor="t">
            <a:noAutofit/>
          </a:bodyPr>
          <a:lstStyle/>
          <a:p>
            <a:pPr algn="l">
              <a:lnSpc>
                <a:spcPct val="100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TOTAL QUANTITY SOLD KPI  MOM DIFFERENCE AND MOM GROWTH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AS month,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ROUND(SUM(transaction_qty))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AS total_quantity_sold,</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(SUM(transaction_qty) - LAG(SUM(transaction_qty), 1)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OVER (ORDER BY MONTH(transaction_date)))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LAG(SUM(transaction_qty), 1)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OVER (ORDER BY MONTH(transaction_date)) * 100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AS mom_increase_percentage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IN (4, 5)   -- for April and 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ORDER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7" name="Picture 6">
            <a:extLst>
              <a:ext uri="{FF2B5EF4-FFF2-40B4-BE49-F238E27FC236}">
                <a16:creationId xmlns:a16="http://schemas.microsoft.com/office/drawing/2014/main" id="{CA071D15-1902-178E-E429-16A976216ED5}"/>
              </a:ext>
            </a:extLst>
          </p:cNvPr>
          <p:cNvPicPr>
            <a:picLocks noChangeAspect="1"/>
          </p:cNvPicPr>
          <p:nvPr/>
        </p:nvPicPr>
        <p:blipFill>
          <a:blip r:embed="rId2"/>
          <a:stretch>
            <a:fillRect/>
          </a:stretch>
        </p:blipFill>
        <p:spPr>
          <a:xfrm>
            <a:off x="385663" y="5199648"/>
            <a:ext cx="3262606" cy="704948"/>
          </a:xfrm>
          <a:prstGeom prst="rect">
            <a:avLst/>
          </a:prstGeom>
        </p:spPr>
      </p:pic>
      <p:pic>
        <p:nvPicPr>
          <p:cNvPr id="5" name="Picture 4">
            <a:extLst>
              <a:ext uri="{FF2B5EF4-FFF2-40B4-BE49-F238E27FC236}">
                <a16:creationId xmlns:a16="http://schemas.microsoft.com/office/drawing/2014/main" id="{01C57E30-BEAB-FDAD-F4E3-8D24AC61C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3107" y="90761"/>
            <a:ext cx="732201" cy="552362"/>
          </a:xfrm>
          <a:prstGeom prst="rect">
            <a:avLst/>
          </a:prstGeom>
        </p:spPr>
      </p:pic>
      <p:pic>
        <p:nvPicPr>
          <p:cNvPr id="4" name="Picture 3">
            <a:extLst>
              <a:ext uri="{FF2B5EF4-FFF2-40B4-BE49-F238E27FC236}">
                <a16:creationId xmlns:a16="http://schemas.microsoft.com/office/drawing/2014/main" id="{E816844D-2437-4B92-4E95-6981D06CB363}"/>
              </a:ext>
            </a:extLst>
          </p:cNvPr>
          <p:cNvPicPr>
            <a:picLocks noChangeAspect="1"/>
          </p:cNvPicPr>
          <p:nvPr/>
        </p:nvPicPr>
        <p:blipFill>
          <a:blip r:embed="rId4"/>
          <a:stretch>
            <a:fillRect/>
          </a:stretch>
        </p:blipFill>
        <p:spPr>
          <a:xfrm>
            <a:off x="3940626" y="5166991"/>
            <a:ext cx="3143689" cy="1093851"/>
          </a:xfrm>
          <a:prstGeom prst="rect">
            <a:avLst/>
          </a:prstGeom>
        </p:spPr>
      </p:pic>
    </p:spTree>
    <p:extLst>
      <p:ext uri="{BB962C8B-B14F-4D97-AF65-F5344CB8AC3E}">
        <p14:creationId xmlns:p14="http://schemas.microsoft.com/office/powerpoint/2010/main" val="2706944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10645385-E247-3A23-1C79-276645C47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BED9D-5C47-4B61-9FBA-969AC9EC97B7}"/>
              </a:ext>
            </a:extLst>
          </p:cNvPr>
          <p:cNvSpPr>
            <a:spLocks noGrp="1"/>
          </p:cNvSpPr>
          <p:nvPr>
            <p:ph type="ctrTitle"/>
          </p:nvPr>
        </p:nvSpPr>
        <p:spPr>
          <a:xfrm>
            <a:off x="-1" y="0"/>
            <a:ext cx="12319819" cy="5810865"/>
          </a:xfrm>
        </p:spPr>
        <p:txBody>
          <a:bodyPr anchor="t">
            <a:normAutofit/>
          </a:bodyPr>
          <a:lstStyle/>
          <a:p>
            <a:pPr algn="l">
              <a:lnSpc>
                <a:spcPct val="107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CALENDAR TABLE – DAILY SALES, QUANTITY and TOTAL ORDERS</a:t>
            </a:r>
            <a:br>
              <a:rPr lang="en-IN" sz="32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SUM(unit_price * transaction_qty)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SUM(transaction_qty) AS total_quantity_sold,</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COUNT(transaction_id) AS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transaction_date = '2023-05-18'; --For 18 May 2023</a:t>
            </a:r>
            <a:br>
              <a:rPr lang="en-IN" sz="18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pic>
        <p:nvPicPr>
          <p:cNvPr id="7" name="Picture 6">
            <a:extLst>
              <a:ext uri="{FF2B5EF4-FFF2-40B4-BE49-F238E27FC236}">
                <a16:creationId xmlns:a16="http://schemas.microsoft.com/office/drawing/2014/main" id="{FFDE6D5A-CCDA-CBBD-F256-5BE6B8027BF8}"/>
              </a:ext>
            </a:extLst>
          </p:cNvPr>
          <p:cNvPicPr>
            <a:picLocks noChangeAspect="1"/>
          </p:cNvPicPr>
          <p:nvPr/>
        </p:nvPicPr>
        <p:blipFill>
          <a:blip r:embed="rId2"/>
          <a:stretch>
            <a:fillRect/>
          </a:stretch>
        </p:blipFill>
        <p:spPr>
          <a:xfrm>
            <a:off x="400548" y="3178029"/>
            <a:ext cx="4001058" cy="1282003"/>
          </a:xfrm>
          <a:prstGeom prst="rect">
            <a:avLst/>
          </a:prstGeom>
        </p:spPr>
      </p:pic>
      <p:pic>
        <p:nvPicPr>
          <p:cNvPr id="4" name="Picture 3">
            <a:extLst>
              <a:ext uri="{FF2B5EF4-FFF2-40B4-BE49-F238E27FC236}">
                <a16:creationId xmlns:a16="http://schemas.microsoft.com/office/drawing/2014/main" id="{C564FFC9-0207-488E-3170-83DC349C9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6634"/>
            <a:ext cx="732201" cy="552362"/>
          </a:xfrm>
          <a:prstGeom prst="rect">
            <a:avLst/>
          </a:prstGeom>
        </p:spPr>
      </p:pic>
      <p:pic>
        <p:nvPicPr>
          <p:cNvPr id="5" name="Picture 4">
            <a:extLst>
              <a:ext uri="{FF2B5EF4-FFF2-40B4-BE49-F238E27FC236}">
                <a16:creationId xmlns:a16="http://schemas.microsoft.com/office/drawing/2014/main" id="{96CC5FD9-7D1C-A342-D257-F1716C71EA7B}"/>
              </a:ext>
            </a:extLst>
          </p:cNvPr>
          <p:cNvPicPr>
            <a:picLocks noChangeAspect="1"/>
          </p:cNvPicPr>
          <p:nvPr/>
        </p:nvPicPr>
        <p:blipFill>
          <a:blip r:embed="rId4"/>
          <a:stretch>
            <a:fillRect/>
          </a:stretch>
        </p:blipFill>
        <p:spPr>
          <a:xfrm>
            <a:off x="4802155" y="3178029"/>
            <a:ext cx="5166880" cy="3105352"/>
          </a:xfrm>
          <a:prstGeom prst="rect">
            <a:avLst/>
          </a:prstGeom>
        </p:spPr>
      </p:pic>
    </p:spTree>
    <p:extLst>
      <p:ext uri="{BB962C8B-B14F-4D97-AF65-F5344CB8AC3E}">
        <p14:creationId xmlns:p14="http://schemas.microsoft.com/office/powerpoint/2010/main" val="579749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300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017093A5-50DB-0F8E-2692-9DA0C0255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A85E4-1DED-9E54-E07F-6DF0F5F35C6B}"/>
              </a:ext>
            </a:extLst>
          </p:cNvPr>
          <p:cNvSpPr>
            <a:spLocks noGrp="1"/>
          </p:cNvSpPr>
          <p:nvPr>
            <p:ph type="ctrTitle"/>
          </p:nvPr>
        </p:nvSpPr>
        <p:spPr>
          <a:xfrm>
            <a:off x="121298" y="214604"/>
            <a:ext cx="10546702" cy="3806890"/>
          </a:xfrm>
        </p:spPr>
        <p:txBody>
          <a:bodyPr>
            <a:noAutofit/>
          </a:bodyPr>
          <a:lstStyle/>
          <a:p>
            <a:pPr algn="l">
              <a:lnSpc>
                <a:spcPct val="100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TREND OVER PERIOD</a:t>
            </a:r>
            <a:br>
              <a:rPr lang="en-IN" sz="1600" kern="100" dirty="0">
                <a:effectLst/>
                <a:latin typeface="Calibri" panose="020F0502020204030204" pitchFamily="34" charset="0"/>
                <a:ea typeface="Calibri" panose="020F0502020204030204" pitchFamily="34" charset="0"/>
                <a:cs typeface="Mangal" panose="02040503050203030202" pitchFamily="18" charset="0"/>
              </a:rPr>
            </a:b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AVG(total_sales) AS average_sales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SUM(unit_price * transaction_qty)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 Filter for 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transaction_date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AS internal_query;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5" name="Picture 4">
            <a:extLst>
              <a:ext uri="{FF2B5EF4-FFF2-40B4-BE49-F238E27FC236}">
                <a16:creationId xmlns:a16="http://schemas.microsoft.com/office/drawing/2014/main" id="{2E49FB7E-F3A8-1708-A67F-083726C2FEEA}"/>
              </a:ext>
            </a:extLst>
          </p:cNvPr>
          <p:cNvPicPr>
            <a:picLocks noChangeAspect="1"/>
          </p:cNvPicPr>
          <p:nvPr/>
        </p:nvPicPr>
        <p:blipFill>
          <a:blip r:embed="rId2"/>
          <a:stretch>
            <a:fillRect/>
          </a:stretch>
        </p:blipFill>
        <p:spPr>
          <a:xfrm>
            <a:off x="341037" y="4021494"/>
            <a:ext cx="2010056" cy="1418769"/>
          </a:xfrm>
          <a:prstGeom prst="rect">
            <a:avLst/>
          </a:prstGeom>
        </p:spPr>
      </p:pic>
      <p:pic>
        <p:nvPicPr>
          <p:cNvPr id="4" name="Picture 3">
            <a:extLst>
              <a:ext uri="{FF2B5EF4-FFF2-40B4-BE49-F238E27FC236}">
                <a16:creationId xmlns:a16="http://schemas.microsoft.com/office/drawing/2014/main" id="{8B834CE5-3F08-801B-C99D-EC96FEE2E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8" name="Picture 7">
            <a:extLst>
              <a:ext uri="{FF2B5EF4-FFF2-40B4-BE49-F238E27FC236}">
                <a16:creationId xmlns:a16="http://schemas.microsoft.com/office/drawing/2014/main" id="{8AD95C6C-304E-62A2-0289-4C9F746ED2AA}"/>
              </a:ext>
            </a:extLst>
          </p:cNvPr>
          <p:cNvPicPr>
            <a:picLocks noChangeAspect="1"/>
          </p:cNvPicPr>
          <p:nvPr/>
        </p:nvPicPr>
        <p:blipFill>
          <a:blip r:embed="rId4"/>
          <a:stretch>
            <a:fillRect/>
          </a:stretch>
        </p:blipFill>
        <p:spPr>
          <a:xfrm>
            <a:off x="2716764" y="3970434"/>
            <a:ext cx="6058746" cy="1520890"/>
          </a:xfrm>
          <a:prstGeom prst="rect">
            <a:avLst/>
          </a:prstGeom>
        </p:spPr>
      </p:pic>
    </p:spTree>
    <p:extLst>
      <p:ext uri="{BB962C8B-B14F-4D97-AF65-F5344CB8AC3E}">
        <p14:creationId xmlns:p14="http://schemas.microsoft.com/office/powerpoint/2010/main" val="141613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0825AADF-3866-ED67-17FF-A0FDCD514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4EA5F-86DB-7F8B-6E81-828AF68367C3}"/>
              </a:ext>
            </a:extLst>
          </p:cNvPr>
          <p:cNvSpPr>
            <a:spLocks noGrp="1"/>
          </p:cNvSpPr>
          <p:nvPr>
            <p:ph type="ctrTitle"/>
          </p:nvPr>
        </p:nvSpPr>
        <p:spPr>
          <a:xfrm>
            <a:off x="0" y="0"/>
            <a:ext cx="10593355" cy="5477070"/>
          </a:xfrm>
        </p:spPr>
        <p:txBody>
          <a:bodyPr anchor="t">
            <a:noAutofit/>
          </a:bodyPr>
          <a:lstStyle/>
          <a:p>
            <a:pPr algn="l">
              <a:lnSpc>
                <a:spcPct val="107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DAILY SALES FOR MONTH SELECTED</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DAY(transaction_date) AS day_of_month,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ROUND(SUM(unit_price * transaction_qty),1)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 Filter for 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DAY(transaction_date)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ORDER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DAY(transaction_date);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7" name="Picture 6">
            <a:extLst>
              <a:ext uri="{FF2B5EF4-FFF2-40B4-BE49-F238E27FC236}">
                <a16:creationId xmlns:a16="http://schemas.microsoft.com/office/drawing/2014/main" id="{115D5F9C-DA82-6A73-278A-29E49D56C805}"/>
              </a:ext>
            </a:extLst>
          </p:cNvPr>
          <p:cNvPicPr>
            <a:picLocks noChangeAspect="1"/>
          </p:cNvPicPr>
          <p:nvPr/>
        </p:nvPicPr>
        <p:blipFill>
          <a:blip r:embed="rId2"/>
          <a:stretch>
            <a:fillRect/>
          </a:stretch>
        </p:blipFill>
        <p:spPr>
          <a:xfrm>
            <a:off x="201301" y="3716787"/>
            <a:ext cx="1851434" cy="2949518"/>
          </a:xfrm>
          <a:prstGeom prst="rect">
            <a:avLst/>
          </a:prstGeom>
        </p:spPr>
      </p:pic>
      <p:pic>
        <p:nvPicPr>
          <p:cNvPr id="9" name="Picture 8">
            <a:extLst>
              <a:ext uri="{FF2B5EF4-FFF2-40B4-BE49-F238E27FC236}">
                <a16:creationId xmlns:a16="http://schemas.microsoft.com/office/drawing/2014/main" id="{97D501C3-3784-DFBF-7D18-6A29B7C5B083}"/>
              </a:ext>
            </a:extLst>
          </p:cNvPr>
          <p:cNvPicPr>
            <a:picLocks noChangeAspect="1"/>
          </p:cNvPicPr>
          <p:nvPr/>
        </p:nvPicPr>
        <p:blipFill>
          <a:blip r:embed="rId3"/>
          <a:stretch>
            <a:fillRect/>
          </a:stretch>
        </p:blipFill>
        <p:spPr>
          <a:xfrm>
            <a:off x="2254036" y="3692732"/>
            <a:ext cx="2114846" cy="2932002"/>
          </a:xfrm>
          <a:prstGeom prst="rect">
            <a:avLst/>
          </a:prstGeom>
        </p:spPr>
      </p:pic>
      <p:pic>
        <p:nvPicPr>
          <p:cNvPr id="4" name="Picture 3">
            <a:extLst>
              <a:ext uri="{FF2B5EF4-FFF2-40B4-BE49-F238E27FC236}">
                <a16:creationId xmlns:a16="http://schemas.microsoft.com/office/drawing/2014/main" id="{72F418D8-6D62-6D82-F48A-3C71CAF49B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5" name="Picture 4">
            <a:extLst>
              <a:ext uri="{FF2B5EF4-FFF2-40B4-BE49-F238E27FC236}">
                <a16:creationId xmlns:a16="http://schemas.microsoft.com/office/drawing/2014/main" id="{B88E1309-52FF-5786-709B-41CEE80D579D}"/>
              </a:ext>
            </a:extLst>
          </p:cNvPr>
          <p:cNvPicPr>
            <a:picLocks noChangeAspect="1"/>
          </p:cNvPicPr>
          <p:nvPr/>
        </p:nvPicPr>
        <p:blipFill>
          <a:blip r:embed="rId5"/>
          <a:stretch>
            <a:fillRect/>
          </a:stretch>
        </p:blipFill>
        <p:spPr>
          <a:xfrm>
            <a:off x="4850986" y="3716788"/>
            <a:ext cx="2706809" cy="2907947"/>
          </a:xfrm>
          <a:prstGeom prst="rect">
            <a:avLst/>
          </a:prstGeom>
        </p:spPr>
      </p:pic>
      <p:pic>
        <p:nvPicPr>
          <p:cNvPr id="6" name="Picture 5">
            <a:extLst>
              <a:ext uri="{FF2B5EF4-FFF2-40B4-BE49-F238E27FC236}">
                <a16:creationId xmlns:a16="http://schemas.microsoft.com/office/drawing/2014/main" id="{ECA4A38F-E06E-F26A-EA5E-7FFB0EFD8BF3}"/>
              </a:ext>
            </a:extLst>
          </p:cNvPr>
          <p:cNvPicPr>
            <a:picLocks noChangeAspect="1"/>
          </p:cNvPicPr>
          <p:nvPr/>
        </p:nvPicPr>
        <p:blipFill>
          <a:blip r:embed="rId6"/>
          <a:stretch>
            <a:fillRect/>
          </a:stretch>
        </p:blipFill>
        <p:spPr>
          <a:xfrm>
            <a:off x="7793270" y="3716787"/>
            <a:ext cx="3584763" cy="2907947"/>
          </a:xfrm>
          <a:prstGeom prst="rect">
            <a:avLst/>
          </a:prstGeom>
        </p:spPr>
      </p:pic>
    </p:spTree>
    <p:extLst>
      <p:ext uri="{BB962C8B-B14F-4D97-AF65-F5344CB8AC3E}">
        <p14:creationId xmlns:p14="http://schemas.microsoft.com/office/powerpoint/2010/main" val="243339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855F00BC-1E3A-F985-1CA3-9D2DAA7B5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B5E81-154D-6822-1781-3F91FAF98D9F}"/>
              </a:ext>
            </a:extLst>
          </p:cNvPr>
          <p:cNvSpPr>
            <a:spLocks noGrp="1"/>
          </p:cNvSpPr>
          <p:nvPr>
            <p:ph type="ctrTitle"/>
          </p:nvPr>
        </p:nvSpPr>
        <p:spPr>
          <a:xfrm>
            <a:off x="0" y="0"/>
            <a:ext cx="12191999" cy="6332677"/>
          </a:xfrm>
        </p:spPr>
        <p:txBody>
          <a:bodyPr anchor="t">
            <a:noAutofit/>
          </a:bodyPr>
          <a:lstStyle/>
          <a:p>
            <a:pPr algn="l">
              <a:lnSpc>
                <a:spcPct val="100000"/>
              </a:lnSpc>
              <a:spcAft>
                <a:spcPts val="800"/>
              </a:spcAft>
            </a:pPr>
            <a:r>
              <a:rPr lang="en-US" sz="3600" dirty="0">
                <a:solidFill>
                  <a:schemeClr val="accent2">
                    <a:lumMod val="50000"/>
                  </a:schemeClr>
                </a:solidFill>
                <a:latin typeface="Segoe UI Semibold" panose="020B0702040204020203" pitchFamily="34" charset="0"/>
                <a:cs typeface="Segoe UI Semibold" panose="020B0702040204020203" pitchFamily="34" charset="0"/>
              </a:rPr>
              <a:t>Daily Sales vs. Average: Above or Below</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day_of_month,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CASE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WHEN total_sales &gt; avg_sales THEN 'Above Average'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WHEN total_sales &lt; avg_sales THEN 'Below Average'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ELSE 'Average'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END AS sales_status,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DAY(transaction_date) AS day_of_month,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SUM(unit_price * transaction_qty)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AVG(SUM(unit_price * transaction_qty)) OVER () AS avg_sales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 Filter for 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DAY(transaction_date)</a:t>
            </a:r>
            <a:br>
              <a:rPr lang="en-IN" sz="1600" kern="100" dirty="0">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AS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day_</a:t>
            </a:r>
            <a:r>
              <a:rPr lang="en-IN" sz="1600" kern="100" dirty="0">
                <a:latin typeface="Calibri" panose="020F0502020204030204" pitchFamily="34" charset="0"/>
                <a:ea typeface="Calibri" panose="020F0502020204030204" pitchFamily="34" charset="0"/>
                <a:cs typeface="Mangal" panose="02040503050203030202" pitchFamily="18" charset="0"/>
              </a:rPr>
              <a:t>sales_data</a:t>
            </a:r>
            <a:br>
              <a:rPr lang="en-IN" sz="1600" kern="100" dirty="0">
                <a:latin typeface="Calibri" panose="020F0502020204030204" pitchFamily="34" charset="0"/>
                <a:ea typeface="Calibri" panose="020F0502020204030204" pitchFamily="34" charset="0"/>
                <a:cs typeface="Mangal" panose="02040503050203030202" pitchFamily="18" charset="0"/>
              </a:rPr>
            </a:br>
            <a:r>
              <a:rPr lang="en-IN" sz="1600" kern="100" dirty="0">
                <a:latin typeface="Calibri" panose="020F0502020204030204" pitchFamily="34" charset="0"/>
                <a:ea typeface="Calibri" panose="020F0502020204030204" pitchFamily="34" charset="0"/>
                <a:cs typeface="Mangal" panose="02040503050203030202" pitchFamily="18" charset="0"/>
              </a:rPr>
              <a:t>ORDER </a:t>
            </a:r>
            <a:r>
              <a:rPr lang="en-IN" sz="1600" kern="100" dirty="0">
                <a:effectLst/>
                <a:latin typeface="Calibri" panose="020F0502020204030204" pitchFamily="34" charset="0"/>
                <a:ea typeface="Calibri" panose="020F0502020204030204" pitchFamily="34" charset="0"/>
                <a:cs typeface="Mangal" panose="02040503050203030202" pitchFamily="18" charset="0"/>
              </a:rPr>
              <a:t>of_month;</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4" name="Picture 3">
            <a:extLst>
              <a:ext uri="{FF2B5EF4-FFF2-40B4-BE49-F238E27FC236}">
                <a16:creationId xmlns:a16="http://schemas.microsoft.com/office/drawing/2014/main" id="{A85898CB-19C2-7516-97BB-E9DA8B83D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48509"/>
            <a:ext cx="732201" cy="552362"/>
          </a:xfrm>
          <a:prstGeom prst="rect">
            <a:avLst/>
          </a:prstGeom>
        </p:spPr>
      </p:pic>
      <p:pic>
        <p:nvPicPr>
          <p:cNvPr id="6" name="Picture 5">
            <a:extLst>
              <a:ext uri="{FF2B5EF4-FFF2-40B4-BE49-F238E27FC236}">
                <a16:creationId xmlns:a16="http://schemas.microsoft.com/office/drawing/2014/main" id="{B270B443-008F-9D8C-9891-4091E66DD67E}"/>
              </a:ext>
            </a:extLst>
          </p:cNvPr>
          <p:cNvPicPr>
            <a:picLocks noChangeAspect="1"/>
          </p:cNvPicPr>
          <p:nvPr/>
        </p:nvPicPr>
        <p:blipFill>
          <a:blip r:embed="rId3"/>
          <a:stretch>
            <a:fillRect/>
          </a:stretch>
        </p:blipFill>
        <p:spPr>
          <a:xfrm>
            <a:off x="4141625" y="4903235"/>
            <a:ext cx="7859222" cy="1543265"/>
          </a:xfrm>
          <a:prstGeom prst="rect">
            <a:avLst/>
          </a:prstGeom>
        </p:spPr>
      </p:pic>
      <p:pic>
        <p:nvPicPr>
          <p:cNvPr id="9" name="Picture 8">
            <a:extLst>
              <a:ext uri="{FF2B5EF4-FFF2-40B4-BE49-F238E27FC236}">
                <a16:creationId xmlns:a16="http://schemas.microsoft.com/office/drawing/2014/main" id="{3B220FAB-A022-47CD-C29A-575D13AD1A53}"/>
              </a:ext>
            </a:extLst>
          </p:cNvPr>
          <p:cNvPicPr>
            <a:picLocks noChangeAspect="1"/>
          </p:cNvPicPr>
          <p:nvPr/>
        </p:nvPicPr>
        <p:blipFill>
          <a:blip r:embed="rId4"/>
          <a:stretch>
            <a:fillRect/>
          </a:stretch>
        </p:blipFill>
        <p:spPr>
          <a:xfrm>
            <a:off x="5775648" y="1342797"/>
            <a:ext cx="2728361" cy="2736363"/>
          </a:xfrm>
          <a:prstGeom prst="rect">
            <a:avLst/>
          </a:prstGeom>
        </p:spPr>
      </p:pic>
      <p:pic>
        <p:nvPicPr>
          <p:cNvPr id="11" name="Picture 10">
            <a:extLst>
              <a:ext uri="{FF2B5EF4-FFF2-40B4-BE49-F238E27FC236}">
                <a16:creationId xmlns:a16="http://schemas.microsoft.com/office/drawing/2014/main" id="{BCE58D36-7738-6AD8-4D90-421242797F3D}"/>
              </a:ext>
            </a:extLst>
          </p:cNvPr>
          <p:cNvPicPr>
            <a:picLocks noChangeAspect="1"/>
          </p:cNvPicPr>
          <p:nvPr/>
        </p:nvPicPr>
        <p:blipFill>
          <a:blip r:embed="rId5"/>
          <a:stretch>
            <a:fillRect/>
          </a:stretch>
        </p:blipFill>
        <p:spPr>
          <a:xfrm>
            <a:off x="8665969" y="1342797"/>
            <a:ext cx="2637224" cy="2736363"/>
          </a:xfrm>
          <a:prstGeom prst="rect">
            <a:avLst/>
          </a:prstGeom>
        </p:spPr>
      </p:pic>
    </p:spTree>
    <p:extLst>
      <p:ext uri="{BB962C8B-B14F-4D97-AF65-F5344CB8AC3E}">
        <p14:creationId xmlns:p14="http://schemas.microsoft.com/office/powerpoint/2010/main" val="1894894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BE0A1805-E4AA-4A3A-D370-6E535065B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9FF27-23CE-7416-A9D9-23679F27DA15}"/>
              </a:ext>
            </a:extLst>
          </p:cNvPr>
          <p:cNvSpPr>
            <a:spLocks noGrp="1"/>
          </p:cNvSpPr>
          <p:nvPr>
            <p:ph type="ctrTitle"/>
          </p:nvPr>
        </p:nvSpPr>
        <p:spPr>
          <a:xfrm>
            <a:off x="0" y="-65313"/>
            <a:ext cx="10668000" cy="5962260"/>
          </a:xfrm>
        </p:spPr>
        <p:txBody>
          <a:bodyPr anchor="t">
            <a:normAutofit/>
          </a:bodyPr>
          <a:lstStyle/>
          <a:p>
            <a:pPr algn="l">
              <a:lnSpc>
                <a:spcPct val="107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BY WEEKDAY / WEEKEND:</a:t>
            </a:r>
            <a:br>
              <a:rPr lang="en-IN" sz="1800" kern="100" dirty="0">
                <a:effectLst/>
                <a:latin typeface="Calibri" panose="020F0502020204030204" pitchFamily="34" charset="0"/>
                <a:ea typeface="Calibri" panose="020F0502020204030204" pitchFamily="34" charset="0"/>
                <a:cs typeface="Mangal" panose="02040503050203030202" pitchFamily="18" charset="0"/>
              </a:rPr>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CASE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WHEN DAYOFWEEK(transaction_date) IN (1, 7) THEN 'Weekends'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ELSE 'Weekdays'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END AS day_type, ROUND(SUM(unit_price * transaction_qty),2)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 Filter for May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CASE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WHEN DAYOFWEEK(transaction_date) IN (1, 7) THEN 'Weekends'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ELSE 'Weekdays'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END;</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5" name="Picture 4">
            <a:extLst>
              <a:ext uri="{FF2B5EF4-FFF2-40B4-BE49-F238E27FC236}">
                <a16:creationId xmlns:a16="http://schemas.microsoft.com/office/drawing/2014/main" id="{411B8A7F-8E52-6EB0-8A41-305E4AFACEE0}"/>
              </a:ext>
            </a:extLst>
          </p:cNvPr>
          <p:cNvPicPr>
            <a:picLocks noChangeAspect="1"/>
          </p:cNvPicPr>
          <p:nvPr/>
        </p:nvPicPr>
        <p:blipFill>
          <a:blip r:embed="rId2"/>
          <a:stretch>
            <a:fillRect/>
          </a:stretch>
        </p:blipFill>
        <p:spPr>
          <a:xfrm>
            <a:off x="1220104" y="4689516"/>
            <a:ext cx="2469502" cy="1579352"/>
          </a:xfrm>
          <a:prstGeom prst="rect">
            <a:avLst/>
          </a:prstGeom>
        </p:spPr>
      </p:pic>
      <p:pic>
        <p:nvPicPr>
          <p:cNvPr id="7" name="Picture 6">
            <a:extLst>
              <a:ext uri="{FF2B5EF4-FFF2-40B4-BE49-F238E27FC236}">
                <a16:creationId xmlns:a16="http://schemas.microsoft.com/office/drawing/2014/main" id="{C48F6378-EEFC-BBA0-A7BD-54D8EA0CA6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2968F7D3-7F94-A318-1E67-5EBBA320BCA4}"/>
              </a:ext>
            </a:extLst>
          </p:cNvPr>
          <p:cNvPicPr>
            <a:picLocks noChangeAspect="1"/>
          </p:cNvPicPr>
          <p:nvPr/>
        </p:nvPicPr>
        <p:blipFill>
          <a:blip r:embed="rId4"/>
          <a:stretch>
            <a:fillRect/>
          </a:stretch>
        </p:blipFill>
        <p:spPr>
          <a:xfrm>
            <a:off x="3909694" y="4488024"/>
            <a:ext cx="3533928" cy="2369976"/>
          </a:xfrm>
          <a:prstGeom prst="rect">
            <a:avLst/>
          </a:prstGeom>
        </p:spPr>
      </p:pic>
    </p:spTree>
    <p:extLst>
      <p:ext uri="{BB962C8B-B14F-4D97-AF65-F5344CB8AC3E}">
        <p14:creationId xmlns:p14="http://schemas.microsoft.com/office/powerpoint/2010/main" val="962180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B4A9F76F-EB71-DEC5-0FA6-E2E076A1D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43838-812A-A6FB-B719-83FBC9D7B25E}"/>
              </a:ext>
            </a:extLst>
          </p:cNvPr>
          <p:cNvSpPr>
            <a:spLocks noGrp="1"/>
          </p:cNvSpPr>
          <p:nvPr>
            <p:ph type="ctrTitle"/>
          </p:nvPr>
        </p:nvSpPr>
        <p:spPr>
          <a:xfrm>
            <a:off x="0" y="9331"/>
            <a:ext cx="10646229" cy="6419460"/>
          </a:xfrm>
        </p:spPr>
        <p:txBody>
          <a:bodyPr anchor="t">
            <a:normAutofit/>
          </a:bodyPr>
          <a:lstStyle/>
          <a:p>
            <a:pPr algn="l">
              <a:lnSpc>
                <a:spcPct val="100000"/>
              </a:lnSpc>
              <a:spcAft>
                <a:spcPts val="800"/>
              </a:spcAft>
            </a:pPr>
            <a: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BY STORE LOCATION</a:t>
            </a:r>
            <a:br>
              <a:rPr lang="en-IN" sz="1800" kern="100" dirty="0">
                <a:effectLst/>
                <a:latin typeface="Calibri" panose="020F0502020204030204" pitchFamily="34" charset="0"/>
                <a:ea typeface="Calibri" panose="020F0502020204030204" pitchFamily="34" charset="0"/>
                <a:cs typeface="Mangal" panose="02040503050203030202" pitchFamily="18" charset="0"/>
              </a:rPr>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latin typeface="Calibri" panose="020F0502020204030204" pitchFamily="34" charset="0"/>
                <a:ea typeface="Calibri" panose="020F0502020204030204" pitchFamily="34" charset="0"/>
                <a:cs typeface="Mangal" panose="02040503050203030202" pitchFamily="18" charset="0"/>
              </a:rPr>
              <a:t>     </a:t>
            </a:r>
            <a:r>
              <a:rPr lang="en-IN" sz="1600" kern="100" dirty="0">
                <a:effectLst/>
                <a:latin typeface="Calibri" panose="020F0502020204030204" pitchFamily="34" charset="0"/>
                <a:ea typeface="Calibri" panose="020F0502020204030204" pitchFamily="34" charset="0"/>
                <a:cs typeface="Mangal" panose="02040503050203030202" pitchFamily="18" charset="0"/>
              </a:rPr>
              <a:t>store_location,</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latin typeface="Calibri" panose="020F0502020204030204" pitchFamily="34" charset="0"/>
                <a:ea typeface="Calibri" panose="020F0502020204030204" pitchFamily="34" charset="0"/>
                <a:cs typeface="Mangal" panose="02040503050203030202" pitchFamily="18" charset="0"/>
              </a:rPr>
              <a:t>    </a:t>
            </a:r>
            <a:r>
              <a:rPr lang="en-IN" sz="1600" kern="100" dirty="0">
                <a:effectLst/>
                <a:latin typeface="Calibri" panose="020F0502020204030204" pitchFamily="34" charset="0"/>
                <a:ea typeface="Calibri" panose="020F0502020204030204" pitchFamily="34" charset="0"/>
                <a:cs typeface="Mangal" panose="02040503050203030202" pitchFamily="18" charset="0"/>
              </a:rPr>
              <a:t>SUM(unit_price * transaction_qty)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=5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store_location</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ORDER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SUM(unit_price * transaction_qty) DESC</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6" name="Picture 5">
            <a:extLst>
              <a:ext uri="{FF2B5EF4-FFF2-40B4-BE49-F238E27FC236}">
                <a16:creationId xmlns:a16="http://schemas.microsoft.com/office/drawing/2014/main" id="{8A650FD9-FF8D-651F-32E4-999CE3964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7B1FC534-76B7-9E63-7CB2-94741980FA82}"/>
              </a:ext>
            </a:extLst>
          </p:cNvPr>
          <p:cNvPicPr>
            <a:picLocks noChangeAspect="1"/>
          </p:cNvPicPr>
          <p:nvPr/>
        </p:nvPicPr>
        <p:blipFill>
          <a:blip r:embed="rId3"/>
          <a:stretch>
            <a:fillRect/>
          </a:stretch>
        </p:blipFill>
        <p:spPr>
          <a:xfrm>
            <a:off x="3571894" y="3987856"/>
            <a:ext cx="3684990" cy="2571185"/>
          </a:xfrm>
          <a:prstGeom prst="rect">
            <a:avLst/>
          </a:prstGeom>
        </p:spPr>
      </p:pic>
      <p:pic>
        <p:nvPicPr>
          <p:cNvPr id="8" name="Picture 7">
            <a:extLst>
              <a:ext uri="{FF2B5EF4-FFF2-40B4-BE49-F238E27FC236}">
                <a16:creationId xmlns:a16="http://schemas.microsoft.com/office/drawing/2014/main" id="{A2D5B841-183B-1764-FE08-1CFCDED473DF}"/>
              </a:ext>
            </a:extLst>
          </p:cNvPr>
          <p:cNvPicPr>
            <a:picLocks noChangeAspect="1"/>
          </p:cNvPicPr>
          <p:nvPr/>
        </p:nvPicPr>
        <p:blipFill>
          <a:blip r:embed="rId4"/>
          <a:stretch>
            <a:fillRect/>
          </a:stretch>
        </p:blipFill>
        <p:spPr>
          <a:xfrm>
            <a:off x="776315" y="3987856"/>
            <a:ext cx="2391109" cy="1255948"/>
          </a:xfrm>
          <a:prstGeom prst="rect">
            <a:avLst/>
          </a:prstGeom>
        </p:spPr>
      </p:pic>
    </p:spTree>
    <p:extLst>
      <p:ext uri="{BB962C8B-B14F-4D97-AF65-F5344CB8AC3E}">
        <p14:creationId xmlns:p14="http://schemas.microsoft.com/office/powerpoint/2010/main" val="1768429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32C2B7DF-A900-E5BA-0458-BED6F7621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6D20C-067D-47C0-EB21-C6C40BE2FE76}"/>
              </a:ext>
            </a:extLst>
          </p:cNvPr>
          <p:cNvSpPr>
            <a:spLocks noGrp="1"/>
          </p:cNvSpPr>
          <p:nvPr>
            <p:ph type="ctrTitle"/>
          </p:nvPr>
        </p:nvSpPr>
        <p:spPr>
          <a:xfrm>
            <a:off x="0" y="0"/>
            <a:ext cx="10668000" cy="5561045"/>
          </a:xfrm>
        </p:spPr>
        <p:txBody>
          <a:bodyPr anchor="t">
            <a:normAutofit/>
          </a:bodyPr>
          <a:lstStyle/>
          <a:p>
            <a:pPr algn="l">
              <a:lnSpc>
                <a:spcPct val="107000"/>
              </a:lnSpc>
              <a:spcAft>
                <a:spcPts val="800"/>
              </a:spcAft>
            </a:pPr>
            <a:r>
              <a:rPr lang="en-IN" sz="32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BY PRODUCT CATEGORY</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product_category,</a:t>
            </a:r>
            <a:r>
              <a:rPr lang="en-IN" sz="1600" kern="100" dirty="0">
                <a:latin typeface="Calibri" panose="020F0502020204030204" pitchFamily="34" charset="0"/>
                <a:ea typeface="Calibri" panose="020F0502020204030204" pitchFamily="34" charset="0"/>
                <a:cs typeface="Mangal" panose="02040503050203030202" pitchFamily="18" charset="0"/>
              </a:rPr>
              <a:t>  </a:t>
            </a:r>
            <a:r>
              <a:rPr lang="en-IN" sz="1600" kern="100" dirty="0">
                <a:effectLst/>
                <a:latin typeface="Calibri" panose="020F0502020204030204" pitchFamily="34" charset="0"/>
                <a:ea typeface="Calibri" panose="020F0502020204030204" pitchFamily="34" charset="0"/>
                <a:cs typeface="Mangal" panose="02040503050203030202" pitchFamily="18" charset="0"/>
              </a:rPr>
              <a:t>ROUND(SUM(unit_price * transaction_qty),1)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product_category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ORDER BY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SUM(unit_price * transaction_qty) DESC</a:t>
            </a:r>
            <a:br>
              <a:rPr lang="en-IN" sz="18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pic>
        <p:nvPicPr>
          <p:cNvPr id="6" name="Picture 5">
            <a:extLst>
              <a:ext uri="{FF2B5EF4-FFF2-40B4-BE49-F238E27FC236}">
                <a16:creationId xmlns:a16="http://schemas.microsoft.com/office/drawing/2014/main" id="{ED5D3575-FF25-8935-36A3-10567E529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89648D0C-624F-FD87-72EB-053F72B7C85A}"/>
              </a:ext>
            </a:extLst>
          </p:cNvPr>
          <p:cNvPicPr>
            <a:picLocks noChangeAspect="1"/>
          </p:cNvPicPr>
          <p:nvPr/>
        </p:nvPicPr>
        <p:blipFill>
          <a:blip r:embed="rId3"/>
          <a:stretch>
            <a:fillRect/>
          </a:stretch>
        </p:blipFill>
        <p:spPr>
          <a:xfrm>
            <a:off x="3717288" y="3229002"/>
            <a:ext cx="2749422" cy="3429000"/>
          </a:xfrm>
          <a:prstGeom prst="rect">
            <a:avLst/>
          </a:prstGeom>
        </p:spPr>
      </p:pic>
      <p:pic>
        <p:nvPicPr>
          <p:cNvPr id="8" name="Picture 7">
            <a:extLst>
              <a:ext uri="{FF2B5EF4-FFF2-40B4-BE49-F238E27FC236}">
                <a16:creationId xmlns:a16="http://schemas.microsoft.com/office/drawing/2014/main" id="{AB1542DB-7BD1-8685-78BE-1EB99A5618D5}"/>
              </a:ext>
            </a:extLst>
          </p:cNvPr>
          <p:cNvPicPr>
            <a:picLocks noChangeAspect="1"/>
          </p:cNvPicPr>
          <p:nvPr/>
        </p:nvPicPr>
        <p:blipFill>
          <a:blip r:embed="rId4"/>
          <a:stretch>
            <a:fillRect/>
          </a:stretch>
        </p:blipFill>
        <p:spPr>
          <a:xfrm>
            <a:off x="667350" y="3229002"/>
            <a:ext cx="2553056" cy="3429000"/>
          </a:xfrm>
          <a:prstGeom prst="rect">
            <a:avLst/>
          </a:prstGeom>
        </p:spPr>
      </p:pic>
    </p:spTree>
    <p:extLst>
      <p:ext uri="{BB962C8B-B14F-4D97-AF65-F5344CB8AC3E}">
        <p14:creationId xmlns:p14="http://schemas.microsoft.com/office/powerpoint/2010/main" val="1126145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D73967CA-47DF-F481-260C-52C0E0F7B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17860-054B-EF0B-6B80-02523E8C20CF}"/>
              </a:ext>
            </a:extLst>
          </p:cNvPr>
          <p:cNvSpPr>
            <a:spLocks noGrp="1"/>
          </p:cNvSpPr>
          <p:nvPr>
            <p:ph type="ctrTitle"/>
          </p:nvPr>
        </p:nvSpPr>
        <p:spPr>
          <a:xfrm>
            <a:off x="0" y="34779"/>
            <a:ext cx="10668000" cy="5171704"/>
          </a:xfrm>
        </p:spPr>
        <p:txBody>
          <a:bodyPr anchor="t">
            <a:normAutofit/>
          </a:bodyPr>
          <a:lstStyle/>
          <a:p>
            <a:pPr algn="l">
              <a:lnSpc>
                <a:spcPct val="100000"/>
              </a:lnSpc>
              <a:spcAft>
                <a:spcPts val="800"/>
              </a:spcAft>
            </a:pPr>
            <a: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BY PRODUCTS (TOP 10)</a:t>
            </a:r>
            <a:b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SELECT </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product_type,</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ROUND(SUM(unit_price * transaction_qty),1) as Total_Sales</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FROM coffee_shop_sales</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WHERE</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MONTH(transaction_date) = 5 </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GROUP BY </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product_type</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ORDER BY </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SUM(unit_price * transaction_qty) DESC</a:t>
            </a:r>
            <a:br>
              <a:rPr lang="en-IN" sz="1800" kern="100" dirty="0">
                <a:effectLst/>
                <a:latin typeface="+mn-lt"/>
                <a:ea typeface="Calibri" panose="020F0502020204030204" pitchFamily="34" charset="0"/>
                <a:cs typeface="Mangal" panose="02040503050203030202" pitchFamily="18" charset="0"/>
              </a:rPr>
            </a:br>
            <a:r>
              <a:rPr lang="en-IN" sz="1800" kern="100" dirty="0">
                <a:effectLst/>
                <a:latin typeface="+mn-lt"/>
                <a:ea typeface="Calibri" panose="020F0502020204030204" pitchFamily="34" charset="0"/>
                <a:cs typeface="Mangal" panose="02040503050203030202" pitchFamily="18" charset="0"/>
              </a:rPr>
              <a:t>    LIMIT 10</a:t>
            </a:r>
            <a:br>
              <a:rPr lang="en-IN" sz="1800" kern="100" dirty="0">
                <a:effectLst/>
                <a:latin typeface="+mn-lt"/>
                <a:ea typeface="Calibri" panose="020F0502020204030204" pitchFamily="34" charset="0"/>
                <a:cs typeface="Mangal" panose="02040503050203030202" pitchFamily="18" charset="0"/>
              </a:rPr>
            </a:br>
            <a:endParaRPr lang="en-IN" dirty="0">
              <a:latin typeface="+mn-lt"/>
            </a:endParaRPr>
          </a:p>
        </p:txBody>
      </p:sp>
      <p:pic>
        <p:nvPicPr>
          <p:cNvPr id="6" name="Picture 5">
            <a:extLst>
              <a:ext uri="{FF2B5EF4-FFF2-40B4-BE49-F238E27FC236}">
                <a16:creationId xmlns:a16="http://schemas.microsoft.com/office/drawing/2014/main" id="{61B00FB9-45B5-0FD0-0AF1-84F5A86D7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87553561-4A57-2141-1F3C-8BB2219564B0}"/>
              </a:ext>
            </a:extLst>
          </p:cNvPr>
          <p:cNvPicPr>
            <a:picLocks noChangeAspect="1"/>
          </p:cNvPicPr>
          <p:nvPr/>
        </p:nvPicPr>
        <p:blipFill>
          <a:blip r:embed="rId3"/>
          <a:stretch>
            <a:fillRect/>
          </a:stretch>
        </p:blipFill>
        <p:spPr>
          <a:xfrm>
            <a:off x="3514532" y="3979283"/>
            <a:ext cx="2164701" cy="2696996"/>
          </a:xfrm>
          <a:prstGeom prst="rect">
            <a:avLst/>
          </a:prstGeom>
        </p:spPr>
      </p:pic>
      <p:pic>
        <p:nvPicPr>
          <p:cNvPr id="8" name="Picture 7">
            <a:extLst>
              <a:ext uri="{FF2B5EF4-FFF2-40B4-BE49-F238E27FC236}">
                <a16:creationId xmlns:a16="http://schemas.microsoft.com/office/drawing/2014/main" id="{C57E1C5F-EF3C-8A52-9E85-E6B8B0A81EBE}"/>
              </a:ext>
            </a:extLst>
          </p:cNvPr>
          <p:cNvPicPr>
            <a:picLocks noChangeAspect="1"/>
          </p:cNvPicPr>
          <p:nvPr/>
        </p:nvPicPr>
        <p:blipFill>
          <a:blip r:embed="rId4"/>
          <a:stretch>
            <a:fillRect/>
          </a:stretch>
        </p:blipFill>
        <p:spPr>
          <a:xfrm>
            <a:off x="404373" y="3979283"/>
            <a:ext cx="2705786" cy="2696996"/>
          </a:xfrm>
          <a:prstGeom prst="rect">
            <a:avLst/>
          </a:prstGeom>
        </p:spPr>
      </p:pic>
    </p:spTree>
    <p:extLst>
      <p:ext uri="{BB962C8B-B14F-4D97-AF65-F5344CB8AC3E}">
        <p14:creationId xmlns:p14="http://schemas.microsoft.com/office/powerpoint/2010/main" val="1236552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FCACEFC7-CD04-856C-BA6C-16342E5C5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8FBF6-D1A2-66AC-6335-00B4C1E56128}"/>
              </a:ext>
            </a:extLst>
          </p:cNvPr>
          <p:cNvSpPr>
            <a:spLocks noGrp="1"/>
          </p:cNvSpPr>
          <p:nvPr>
            <p:ph type="ctrTitle"/>
          </p:nvPr>
        </p:nvSpPr>
        <p:spPr>
          <a:xfrm>
            <a:off x="0" y="1"/>
            <a:ext cx="12027159" cy="6363478"/>
          </a:xfrm>
        </p:spPr>
        <p:txBody>
          <a:bodyPr anchor="t">
            <a:normAutofit/>
          </a:bodyPr>
          <a:lstStyle/>
          <a:p>
            <a:pPr algn="l">
              <a:lnSpc>
                <a:spcPct val="107000"/>
              </a:lnSpc>
              <a:spcAft>
                <a:spcPts val="800"/>
              </a:spcAft>
            </a:pPr>
            <a:r>
              <a:rPr lang="en-IN" sz="28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SALES BY DAY | HOUR</a:t>
            </a:r>
            <a:br>
              <a:rPr lang="en-IN" sz="28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ROUND(SUM(unit_price * transaction_qty)) AS Total_Sales,</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SUM(transaction_qty) AS Total_Quantity,</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COUNT(*) AS Total_Orders</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DAYOFWEEK(transaction_date) = 3 </a:t>
            </a:r>
            <a:r>
              <a:rPr lang="en-IN" sz="1800" kern="100" dirty="0">
                <a:latin typeface="Calibri" panose="020F0502020204030204" pitchFamily="34" charset="0"/>
                <a:ea typeface="Calibri" panose="020F0502020204030204" pitchFamily="34" charset="0"/>
                <a:cs typeface="Mangal" panose="02040503050203030202" pitchFamily="18" charset="0"/>
              </a:rPr>
              <a:t>  </a:t>
            </a:r>
            <a:r>
              <a:rPr lang="en-IN" sz="1800" kern="100" dirty="0">
                <a:effectLst/>
                <a:latin typeface="Calibri" panose="020F0502020204030204" pitchFamily="34" charset="0"/>
                <a:ea typeface="Calibri" panose="020F0502020204030204" pitchFamily="34" charset="0"/>
                <a:cs typeface="Mangal" panose="02040503050203030202" pitchFamily="18" charset="0"/>
              </a:rPr>
              <a:t>-- Filter for Tuesday (1 is Sunday, 2 is Monday, ..., 7 is Saturday)</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AND HOUR(transaction_time) = 8 </a:t>
            </a:r>
            <a:r>
              <a:rPr lang="en-IN" sz="1800" kern="100" dirty="0">
                <a:latin typeface="Calibri" panose="020F0502020204030204" pitchFamily="34" charset="0"/>
                <a:ea typeface="Calibri" panose="020F0502020204030204" pitchFamily="34" charset="0"/>
                <a:cs typeface="Mangal" panose="02040503050203030202" pitchFamily="18" charset="0"/>
              </a:rPr>
              <a:t> </a:t>
            </a:r>
            <a:r>
              <a:rPr lang="en-IN" sz="1800" kern="100" dirty="0">
                <a:effectLst/>
                <a:latin typeface="Calibri" panose="020F0502020204030204" pitchFamily="34" charset="0"/>
                <a:ea typeface="Calibri" panose="020F0502020204030204" pitchFamily="34" charset="0"/>
                <a:cs typeface="Mangal" panose="02040503050203030202" pitchFamily="18" charset="0"/>
              </a:rPr>
              <a:t>-- Filter for hour number 8</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kern="100" dirty="0">
                <a:effectLst/>
                <a:latin typeface="Calibri" panose="020F0502020204030204" pitchFamily="34" charset="0"/>
                <a:ea typeface="Calibri" panose="020F0502020204030204" pitchFamily="34" charset="0"/>
                <a:cs typeface="Mangal" panose="02040503050203030202" pitchFamily="18" charset="0"/>
              </a:rPr>
              <a:t>    AND MONTH(transaction_date) = 5</a:t>
            </a:r>
            <a:r>
              <a:rPr lang="en-IN" sz="1800" kern="100" dirty="0">
                <a:latin typeface="Calibri" panose="020F0502020204030204" pitchFamily="34" charset="0"/>
                <a:ea typeface="Calibri" panose="020F0502020204030204" pitchFamily="34" charset="0"/>
                <a:cs typeface="Mangal" panose="02040503050203030202" pitchFamily="18" charset="0"/>
              </a:rPr>
              <a:t> </a:t>
            </a:r>
            <a:r>
              <a:rPr lang="en-IN" sz="1800" kern="100" dirty="0">
                <a:effectLst/>
                <a:latin typeface="Calibri" panose="020F0502020204030204" pitchFamily="34" charset="0"/>
                <a:ea typeface="Calibri" panose="020F0502020204030204" pitchFamily="34" charset="0"/>
                <a:cs typeface="Mangal" panose="02040503050203030202" pitchFamily="18" charset="0"/>
              </a:rPr>
              <a:t>-- Filter for May (month number 5)</a:t>
            </a:r>
            <a:br>
              <a:rPr lang="en-IN" sz="18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pic>
        <p:nvPicPr>
          <p:cNvPr id="5" name="Picture 4">
            <a:extLst>
              <a:ext uri="{FF2B5EF4-FFF2-40B4-BE49-F238E27FC236}">
                <a16:creationId xmlns:a16="http://schemas.microsoft.com/office/drawing/2014/main" id="{A6D229C7-B63D-3A62-02F2-398809F0F48C}"/>
              </a:ext>
            </a:extLst>
          </p:cNvPr>
          <p:cNvPicPr>
            <a:picLocks noChangeAspect="1"/>
          </p:cNvPicPr>
          <p:nvPr/>
        </p:nvPicPr>
        <p:blipFill>
          <a:blip r:embed="rId2"/>
          <a:stretch>
            <a:fillRect/>
          </a:stretch>
        </p:blipFill>
        <p:spPr>
          <a:xfrm>
            <a:off x="223222" y="4175449"/>
            <a:ext cx="3248478" cy="743054"/>
          </a:xfrm>
          <a:prstGeom prst="rect">
            <a:avLst/>
          </a:prstGeom>
        </p:spPr>
      </p:pic>
      <p:pic>
        <p:nvPicPr>
          <p:cNvPr id="6" name="Picture 5">
            <a:extLst>
              <a:ext uri="{FF2B5EF4-FFF2-40B4-BE49-F238E27FC236}">
                <a16:creationId xmlns:a16="http://schemas.microsoft.com/office/drawing/2014/main" id="{942E0F97-B4EB-BDA4-52A7-8BA1D5DA5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4A7C0D1F-53C9-4235-D804-269E5A1360DA}"/>
              </a:ext>
            </a:extLst>
          </p:cNvPr>
          <p:cNvPicPr>
            <a:picLocks noChangeAspect="1"/>
          </p:cNvPicPr>
          <p:nvPr/>
        </p:nvPicPr>
        <p:blipFill>
          <a:blip r:embed="rId4"/>
          <a:stretch>
            <a:fillRect/>
          </a:stretch>
        </p:blipFill>
        <p:spPr>
          <a:xfrm>
            <a:off x="3694922" y="3652935"/>
            <a:ext cx="3405674" cy="2066731"/>
          </a:xfrm>
          <a:prstGeom prst="rect">
            <a:avLst/>
          </a:prstGeom>
        </p:spPr>
      </p:pic>
    </p:spTree>
    <p:extLst>
      <p:ext uri="{BB962C8B-B14F-4D97-AF65-F5344CB8AC3E}">
        <p14:creationId xmlns:p14="http://schemas.microsoft.com/office/powerpoint/2010/main" val="139831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185F1D53-C810-995E-D30A-96D171C0B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1A83B1-C879-D46D-C486-72169DE538D6}"/>
              </a:ext>
            </a:extLst>
          </p:cNvPr>
          <p:cNvSpPr>
            <a:spLocks noGrp="1"/>
          </p:cNvSpPr>
          <p:nvPr>
            <p:ph type="ctrTitle"/>
          </p:nvPr>
        </p:nvSpPr>
        <p:spPr>
          <a:xfrm>
            <a:off x="0" y="1"/>
            <a:ext cx="12192000" cy="6447452"/>
          </a:xfrm>
        </p:spPr>
        <p:txBody>
          <a:bodyPr>
            <a:normAutofit fontScale="90000"/>
          </a:bodyPr>
          <a:lstStyle/>
          <a:p>
            <a:pPr algn="l">
              <a:lnSpc>
                <a:spcPct val="107000"/>
              </a:lnSpc>
              <a:spcAft>
                <a:spcPts val="800"/>
              </a:spcAft>
            </a:pPr>
            <a: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 GET SALES FROM MONDAY TO SUNDAY FOR MONTH OF MAY</a:t>
            </a:r>
            <a:br>
              <a:rPr lang="en-IN" sz="14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SELECT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CASE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2 THEN 'Monday'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3 THEN 'Tuesday'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4 THEN 'Wednesday'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5 THEN 'Thursday'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6 THEN 'Friday'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7 THEN 'Saturday'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ELSE 'Sunday'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END AS Day_of_Week,</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ROUND(SUM(unit_price * transaction_qty)) AS Total_Sales</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FROM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coffee_shop_sales</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WHERE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MONTH(transaction_date) = 5 -- Filter for May (month number 5)</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GROUP BY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CASE </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2 THEN 'Monday'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3 THEN 'Tuesday'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4 THEN 'Wednesday'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5 THEN 'Thursday'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6 THEN 'Friday'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WHEN DAYOFWEEK(transaction_date) = 7 THEN 'Saturday'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ELSE 'Sunday'</a:t>
            </a:r>
            <a:br>
              <a:rPr lang="en-IN" sz="1600" kern="100" dirty="0">
                <a:effectLst/>
                <a:latin typeface="+mn-lt"/>
                <a:ea typeface="Calibri" panose="020F0502020204030204" pitchFamily="34" charset="0"/>
                <a:cs typeface="Mangal" panose="02040503050203030202" pitchFamily="18" charset="0"/>
              </a:rPr>
            </a:br>
            <a:r>
              <a:rPr lang="en-IN" sz="1600" kern="100" dirty="0">
                <a:effectLst/>
                <a:latin typeface="+mn-lt"/>
                <a:ea typeface="Calibri" panose="020F0502020204030204" pitchFamily="34" charset="0"/>
                <a:cs typeface="Mangal" panose="02040503050203030202" pitchFamily="18" charset="0"/>
              </a:rPr>
              <a:t>    END;</a:t>
            </a:r>
            <a:br>
              <a:rPr lang="en-IN" sz="1600" kern="100" dirty="0">
                <a:effectLst/>
                <a:latin typeface="+mn-lt"/>
                <a:ea typeface="Calibri" panose="020F0502020204030204" pitchFamily="34" charset="0"/>
                <a:cs typeface="Mangal" panose="02040503050203030202" pitchFamily="18" charset="0"/>
              </a:rPr>
            </a:br>
            <a:endParaRPr lang="en-IN" sz="1600" dirty="0">
              <a:latin typeface="+mn-lt"/>
            </a:endParaRPr>
          </a:p>
        </p:txBody>
      </p:sp>
      <p:pic>
        <p:nvPicPr>
          <p:cNvPr id="5" name="Picture 4">
            <a:extLst>
              <a:ext uri="{FF2B5EF4-FFF2-40B4-BE49-F238E27FC236}">
                <a16:creationId xmlns:a16="http://schemas.microsoft.com/office/drawing/2014/main" id="{69F5672C-A5F6-7DF4-5CAC-6F3268CA2320}"/>
              </a:ext>
            </a:extLst>
          </p:cNvPr>
          <p:cNvPicPr>
            <a:picLocks noChangeAspect="1"/>
          </p:cNvPicPr>
          <p:nvPr/>
        </p:nvPicPr>
        <p:blipFill>
          <a:blip r:embed="rId2"/>
          <a:stretch>
            <a:fillRect/>
          </a:stretch>
        </p:blipFill>
        <p:spPr>
          <a:xfrm>
            <a:off x="6316824" y="1295675"/>
            <a:ext cx="3275046" cy="2552565"/>
          </a:xfrm>
          <a:prstGeom prst="rect">
            <a:avLst/>
          </a:prstGeom>
        </p:spPr>
      </p:pic>
      <p:pic>
        <p:nvPicPr>
          <p:cNvPr id="6" name="Picture 5">
            <a:extLst>
              <a:ext uri="{FF2B5EF4-FFF2-40B4-BE49-F238E27FC236}">
                <a16:creationId xmlns:a16="http://schemas.microsoft.com/office/drawing/2014/main" id="{239D413F-A014-8A91-C75F-B0C402F36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F2020DF8-D125-63CA-16E0-19B8C30DE89D}"/>
              </a:ext>
            </a:extLst>
          </p:cNvPr>
          <p:cNvPicPr>
            <a:picLocks noChangeAspect="1"/>
          </p:cNvPicPr>
          <p:nvPr/>
        </p:nvPicPr>
        <p:blipFill>
          <a:blip r:embed="rId4"/>
          <a:stretch>
            <a:fillRect/>
          </a:stretch>
        </p:blipFill>
        <p:spPr>
          <a:xfrm>
            <a:off x="6095999" y="4199987"/>
            <a:ext cx="3495871" cy="1776270"/>
          </a:xfrm>
          <a:prstGeom prst="rect">
            <a:avLst/>
          </a:prstGeom>
        </p:spPr>
      </p:pic>
    </p:spTree>
    <p:extLst>
      <p:ext uri="{BB962C8B-B14F-4D97-AF65-F5344CB8AC3E}">
        <p14:creationId xmlns:p14="http://schemas.microsoft.com/office/powerpoint/2010/main" val="346000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CEF67802-B513-F08D-5273-4BA85B0CF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8A350-F54E-5450-8457-859E9D0D7F27}"/>
              </a:ext>
            </a:extLst>
          </p:cNvPr>
          <p:cNvSpPr>
            <a:spLocks noGrp="1"/>
          </p:cNvSpPr>
          <p:nvPr>
            <p:ph type="ctrTitle"/>
          </p:nvPr>
        </p:nvSpPr>
        <p:spPr>
          <a:xfrm>
            <a:off x="0" y="0"/>
            <a:ext cx="12192000" cy="6858000"/>
          </a:xfrm>
        </p:spPr>
        <p:txBody>
          <a:bodyPr anchor="t">
            <a:normAutofit/>
          </a:bodyPr>
          <a:lstStyle/>
          <a:p>
            <a:pPr algn="l">
              <a:lnSpc>
                <a:spcPct val="107000"/>
              </a:lnSpc>
              <a:spcAft>
                <a:spcPts val="800"/>
              </a:spcAft>
            </a:pPr>
            <a: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t>TO GET SALES FOR ALL HOURS FOR MONTH OF MAY</a:t>
            </a:r>
            <a:br>
              <a:rPr lang="en-IN" sz="3600" b="1" kern="100" dirty="0">
                <a:solidFill>
                  <a:schemeClr val="accent2">
                    <a:lumMod val="50000"/>
                  </a:schemeClr>
                </a:solidFill>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SELECT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HOUR(transaction_time) AS Hour_of_Day,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ROUND(SUM(unit_price * transaction_qty))</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AS Total_Sales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FROM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coffee_shop_sales</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WHERE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MONTH(transaction_date) = 5</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 Filter for May (month number 5)</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GROUP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HOUR(transaction_time)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ORDER BY </a:t>
            </a:r>
            <a:br>
              <a:rPr lang="en-IN" sz="1600" kern="100" dirty="0">
                <a:effectLst/>
                <a:latin typeface="Calibri" panose="020F0502020204030204" pitchFamily="34" charset="0"/>
                <a:ea typeface="Calibri" panose="020F0502020204030204" pitchFamily="34" charset="0"/>
                <a:cs typeface="Mangal" panose="02040503050203030202" pitchFamily="18" charset="0"/>
              </a:rPr>
            </a:br>
            <a:r>
              <a:rPr lang="en-IN" sz="1600" kern="100" dirty="0">
                <a:effectLst/>
                <a:latin typeface="Calibri" panose="020F0502020204030204" pitchFamily="34" charset="0"/>
                <a:ea typeface="Calibri" panose="020F0502020204030204" pitchFamily="34" charset="0"/>
                <a:cs typeface="Mangal" panose="02040503050203030202" pitchFamily="18" charset="0"/>
              </a:rPr>
              <a:t>    HOUR(transaction_time);</a:t>
            </a:r>
            <a:br>
              <a:rPr lang="en-IN" sz="1600" kern="100" dirty="0">
                <a:effectLst/>
                <a:latin typeface="Calibri" panose="020F0502020204030204" pitchFamily="34" charset="0"/>
                <a:ea typeface="Calibri" panose="020F0502020204030204" pitchFamily="34" charset="0"/>
                <a:cs typeface="Mangal" panose="02040503050203030202" pitchFamily="18" charset="0"/>
              </a:rPr>
            </a:br>
            <a:endParaRPr lang="en-IN" sz="1600" dirty="0"/>
          </a:p>
        </p:txBody>
      </p:sp>
      <p:pic>
        <p:nvPicPr>
          <p:cNvPr id="5" name="Picture 4">
            <a:extLst>
              <a:ext uri="{FF2B5EF4-FFF2-40B4-BE49-F238E27FC236}">
                <a16:creationId xmlns:a16="http://schemas.microsoft.com/office/drawing/2014/main" id="{7BE26012-83E2-E90E-F109-3C56DA14329D}"/>
              </a:ext>
            </a:extLst>
          </p:cNvPr>
          <p:cNvPicPr>
            <a:picLocks noChangeAspect="1"/>
          </p:cNvPicPr>
          <p:nvPr/>
        </p:nvPicPr>
        <p:blipFill>
          <a:blip r:embed="rId2"/>
          <a:stretch>
            <a:fillRect/>
          </a:stretch>
        </p:blipFill>
        <p:spPr>
          <a:xfrm>
            <a:off x="447870" y="4025739"/>
            <a:ext cx="1904000" cy="2766027"/>
          </a:xfrm>
          <a:prstGeom prst="rect">
            <a:avLst/>
          </a:prstGeom>
        </p:spPr>
      </p:pic>
      <p:pic>
        <p:nvPicPr>
          <p:cNvPr id="6" name="Picture 5">
            <a:extLst>
              <a:ext uri="{FF2B5EF4-FFF2-40B4-BE49-F238E27FC236}">
                <a16:creationId xmlns:a16="http://schemas.microsoft.com/office/drawing/2014/main" id="{01647A8A-B556-ED31-47F9-E7505B671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pic>
        <p:nvPicPr>
          <p:cNvPr id="4" name="Picture 3">
            <a:extLst>
              <a:ext uri="{FF2B5EF4-FFF2-40B4-BE49-F238E27FC236}">
                <a16:creationId xmlns:a16="http://schemas.microsoft.com/office/drawing/2014/main" id="{DD1BED85-AAF9-06A3-D7BE-1CE4AF0316A1}"/>
              </a:ext>
            </a:extLst>
          </p:cNvPr>
          <p:cNvPicPr>
            <a:picLocks noChangeAspect="1"/>
          </p:cNvPicPr>
          <p:nvPr/>
        </p:nvPicPr>
        <p:blipFill>
          <a:blip r:embed="rId4"/>
          <a:stretch>
            <a:fillRect/>
          </a:stretch>
        </p:blipFill>
        <p:spPr>
          <a:xfrm>
            <a:off x="2636430" y="4025739"/>
            <a:ext cx="3727104" cy="2766027"/>
          </a:xfrm>
          <a:prstGeom prst="rect">
            <a:avLst/>
          </a:prstGeom>
        </p:spPr>
      </p:pic>
    </p:spTree>
    <p:extLst>
      <p:ext uri="{BB962C8B-B14F-4D97-AF65-F5344CB8AC3E}">
        <p14:creationId xmlns:p14="http://schemas.microsoft.com/office/powerpoint/2010/main" val="1281211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850F4F27-B79B-8439-E489-BE54687E0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1C20E-D91A-AF28-2B5D-4EFB6A0E1969}"/>
              </a:ext>
            </a:extLst>
          </p:cNvPr>
          <p:cNvSpPr>
            <a:spLocks noGrp="1"/>
          </p:cNvSpPr>
          <p:nvPr>
            <p:ph type="ctrTitle"/>
          </p:nvPr>
        </p:nvSpPr>
        <p:spPr>
          <a:xfrm>
            <a:off x="74644" y="34778"/>
            <a:ext cx="11775233" cy="6701924"/>
          </a:xfrm>
        </p:spPr>
        <p:txBody>
          <a:bodyPr anchor="t">
            <a:normAutofit fontScale="90000"/>
          </a:bodyPr>
          <a:lstStyle/>
          <a:p>
            <a:pPr algn="l"/>
            <a:r>
              <a:rPr lang="en-IN" sz="4000" kern="100" dirty="0">
                <a:solidFill>
                  <a:schemeClr val="accent2">
                    <a:lumMod val="50000"/>
                  </a:schemeClr>
                </a:solidFill>
                <a:effectLst/>
                <a:latin typeface="Segoe UI Semibold" panose="020B0702040204020203" pitchFamily="34" charset="0"/>
                <a:ea typeface="Calibri" panose="020F0502020204030204" pitchFamily="34" charset="0"/>
                <a:cs typeface="Segoe UI Semibold" panose="020B0702040204020203" pitchFamily="34" charset="0"/>
              </a:rPr>
              <a:t>Insights </a:t>
            </a:r>
            <a:br>
              <a:rPr lang="en-IN" sz="2200" kern="100" dirty="0">
                <a:solidFill>
                  <a:schemeClr val="accent2">
                    <a:lumMod val="50000"/>
                  </a:schemeClr>
                </a:solidFill>
                <a:effectLst/>
                <a:latin typeface="Segoe UI Semibold" panose="020B0702040204020203" pitchFamily="34" charset="0"/>
                <a:ea typeface="Calibri" panose="020F0502020204030204" pitchFamily="34" charset="0"/>
                <a:cs typeface="Segoe UI Semibold" panose="020B0702040204020203" pitchFamily="34" charset="0"/>
              </a:rPr>
            </a:br>
            <a:br>
              <a:rPr lang="en-IN" sz="2000" kern="100" dirty="0">
                <a:solidFill>
                  <a:schemeClr val="accent2">
                    <a:lumMod val="50000"/>
                  </a:schemeClr>
                </a:solidFill>
                <a:latin typeface="Segoe UI Semibold" panose="020B0702040204020203" pitchFamily="34" charset="0"/>
                <a:ea typeface="Calibri" panose="020F0502020204030204" pitchFamily="34" charset="0"/>
                <a:cs typeface="Segoe UI Semibold" panose="020B0702040204020203" pitchFamily="34" charset="0"/>
              </a:rPr>
            </a:br>
            <a:r>
              <a:rPr lang="en-US" sz="1800" b="1" dirty="0">
                <a:latin typeface="+mn-lt"/>
                <a:cs typeface="Segoe UI Semibold" panose="020B0702040204020203" pitchFamily="34" charset="0"/>
              </a:rPr>
              <a:t>Overall Sales Performance:</a:t>
            </a:r>
            <a:br>
              <a:rPr lang="en-US" sz="1800" b="1" dirty="0">
                <a:latin typeface="+mn-lt"/>
                <a:cs typeface="Segoe UI Semibold" panose="020B0702040204020203" pitchFamily="34" charset="0"/>
              </a:rPr>
            </a:br>
            <a:r>
              <a:rPr lang="en-US" sz="1800" dirty="0">
                <a:latin typeface="+mn-lt"/>
                <a:cs typeface="Segoe UI Semibold" panose="020B0702040204020203" pitchFamily="34" charset="0"/>
              </a:rPr>
              <a:t>Total sales for May 2023: $157K, which represents a 31.8% increase compared to last month.</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Both total orders (33,527) and total quantity sold (48,233) show a 32.3% improvement vs. last month, indicating strong growth.</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Top Performing Product Categories:</a:t>
            </a:r>
            <a:br>
              <a:rPr lang="en-US" sz="1800" b="1" dirty="0">
                <a:latin typeface="+mn-lt"/>
                <a:cs typeface="Segoe UI Semibold" panose="020B0702040204020203" pitchFamily="34" charset="0"/>
              </a:rPr>
            </a:br>
            <a:r>
              <a:rPr lang="en-US" sz="1800" dirty="0">
                <a:latin typeface="+mn-lt"/>
                <a:cs typeface="Segoe UI Semibold" panose="020B0702040204020203" pitchFamily="34" charset="0"/>
              </a:rPr>
              <a:t>Coffee contributes the most sales at $60.36K, followed by Tea ($44.54K), with both showing a significant increase (+31.9% and +33.5%).</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Bakery and Drinking Chocolate also show impressive growth (both over +30%).</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Product Type Trends:</a:t>
            </a:r>
            <a:br>
              <a:rPr lang="en-US" sz="1800" b="1" dirty="0">
                <a:latin typeface="+mn-lt"/>
                <a:cs typeface="Segoe UI Semibold" panose="020B0702040204020203" pitchFamily="34" charset="0"/>
              </a:rPr>
            </a:br>
            <a:r>
              <a:rPr lang="en-US" sz="1800" dirty="0">
                <a:latin typeface="+mn-lt"/>
                <a:cs typeface="Segoe UI Semibold" panose="020B0702040204020203" pitchFamily="34" charset="0"/>
              </a:rPr>
              <a:t>Barista Espresso ($20.42K) and Brewed Chai Tea ($17.43K) lead among individual product types.</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Hot Chocolate ($16.32K) and Premium brewed coffee ($8.74K) also exhibit strong performance.</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Sales by Weekday/Weekend:</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Majority of sales occurred on weekdays (74.19%), suggesting weekday-focused customer engagement.</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Store Location Analysis:</a:t>
            </a:r>
            <a:br>
              <a:rPr lang="en-US" sz="1800" b="1" dirty="0">
                <a:latin typeface="+mn-lt"/>
                <a:cs typeface="Segoe UI Semibold" panose="020B0702040204020203" pitchFamily="34" charset="0"/>
              </a:rPr>
            </a:br>
            <a:r>
              <a:rPr lang="en-US" sz="1800" dirty="0">
                <a:latin typeface="+mn-lt"/>
                <a:cs typeface="Segoe UI Semibold" panose="020B0702040204020203" pitchFamily="34" charset="0"/>
              </a:rPr>
              <a:t>Hell’s Kitchen ($52.60K) is the top-performing store, showing a 30.5% sales growth compared to last month.</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Astoria and Lower Manhattan also performed well, with growth exceeding 32%.</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Sales by Hour/Day:</a:t>
            </a:r>
            <a:br>
              <a:rPr lang="en-US" sz="1800" b="1" dirty="0">
                <a:latin typeface="+mn-lt"/>
                <a:cs typeface="Segoe UI Semibold" panose="020B0702040204020203" pitchFamily="34" charset="0"/>
              </a:rPr>
            </a:br>
            <a:r>
              <a:rPr lang="en-US" sz="1800" dirty="0">
                <a:latin typeface="+mn-lt"/>
                <a:cs typeface="Segoe UI Semibold" panose="020B0702040204020203" pitchFamily="34" charset="0"/>
              </a:rPr>
              <a:t>Peak sales hours occur in the morning and early afternoon (9 AM–2 PM), which aligns with typical coffee and snack purchase times.</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Sales are consistent throughout the week, with slightly lower activity on Sundays.</a:t>
            </a:r>
            <a:br>
              <a:rPr lang="en-US" sz="1800" dirty="0">
                <a:latin typeface="+mn-lt"/>
                <a:cs typeface="Segoe UI Semibold" panose="020B0702040204020203" pitchFamily="34" charset="0"/>
              </a:rPr>
            </a:br>
            <a:br>
              <a:rPr lang="en-US" sz="1800" dirty="0">
                <a:latin typeface="+mn-lt"/>
                <a:cs typeface="Segoe UI Semibold" panose="020B0702040204020203" pitchFamily="34" charset="0"/>
              </a:rPr>
            </a:br>
            <a:r>
              <a:rPr lang="en-US" sz="1800" b="1" dirty="0">
                <a:latin typeface="+mn-lt"/>
                <a:cs typeface="Segoe UI Semibold" panose="020B0702040204020203" pitchFamily="34" charset="0"/>
              </a:rPr>
              <a:t>Sales Trends:</a:t>
            </a:r>
            <a:br>
              <a:rPr lang="en-US" sz="1800" dirty="0">
                <a:latin typeface="+mn-lt"/>
                <a:cs typeface="Segoe UI Semibold" panose="020B0702040204020203" pitchFamily="34" charset="0"/>
              </a:rPr>
            </a:br>
            <a:r>
              <a:rPr lang="en-US" sz="1800" dirty="0">
                <a:latin typeface="+mn-lt"/>
                <a:cs typeface="Segoe UI Semibold" panose="020B0702040204020203" pitchFamily="34" charset="0"/>
              </a:rPr>
              <a:t>Daily sales average around $5,056, with no drastic fluctuations but minor dips on weekends.</a:t>
            </a:r>
            <a:br>
              <a:rPr lang="en-US" sz="1800" dirty="0">
                <a:latin typeface="+mn-lt"/>
                <a:cs typeface="Segoe UI Semibold" panose="020B0702040204020203" pitchFamily="34" charset="0"/>
              </a:rPr>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b="1" kern="100" dirty="0">
                <a:effectLst/>
                <a:latin typeface="+mn-lt"/>
                <a:ea typeface="Calibri" panose="020F0502020204030204" pitchFamily="34" charset="0"/>
                <a:cs typeface="Segoe UI Semibold" panose="020B0702040204020203" pitchFamily="34" charset="0"/>
              </a:rPr>
              <a:t> </a:t>
            </a:r>
            <a:r>
              <a:rPr lang="en-IN" sz="1800" kern="100" dirty="0">
                <a:effectLst/>
                <a:latin typeface="+mn-lt"/>
                <a:ea typeface="Calibri" panose="020F0502020204030204" pitchFamily="34" charset="0"/>
                <a:cs typeface="Segoe UI Semibold" panose="020B0702040204020203" pitchFamily="34" charset="0"/>
              </a:rPr>
              <a:t> </a:t>
            </a:r>
            <a:br>
              <a:rPr lang="en-IN" sz="1800" kern="100" dirty="0">
                <a:effectLst/>
                <a:latin typeface="+mn-lt"/>
                <a:ea typeface="Calibri" panose="020F0502020204030204" pitchFamily="34" charset="0"/>
                <a:cs typeface="Segoe UI Semibold" panose="020B0702040204020203" pitchFamily="34" charset="0"/>
              </a:rPr>
            </a:br>
            <a:endParaRPr lang="en-IN" sz="1800" dirty="0">
              <a:latin typeface="+mn-lt"/>
              <a:cs typeface="Segoe UI Semibold" panose="020B0702040204020203" pitchFamily="34" charset="0"/>
            </a:endParaRPr>
          </a:p>
        </p:txBody>
      </p:sp>
      <p:pic>
        <p:nvPicPr>
          <p:cNvPr id="6" name="Picture 5">
            <a:extLst>
              <a:ext uri="{FF2B5EF4-FFF2-40B4-BE49-F238E27FC236}">
                <a16:creationId xmlns:a16="http://schemas.microsoft.com/office/drawing/2014/main" id="{50DEDD29-9265-7E3A-B770-1F72D97B8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cxnSp>
        <p:nvCxnSpPr>
          <p:cNvPr id="7" name="Straight Connector 6">
            <a:extLst>
              <a:ext uri="{FF2B5EF4-FFF2-40B4-BE49-F238E27FC236}">
                <a16:creationId xmlns:a16="http://schemas.microsoft.com/office/drawing/2014/main" id="{6ADD9C0B-ED0E-5F7F-156E-B323A7A9CAF9}"/>
              </a:ext>
            </a:extLst>
          </p:cNvPr>
          <p:cNvCxnSpPr>
            <a:cxnSpLocks/>
          </p:cNvCxnSpPr>
          <p:nvPr/>
        </p:nvCxnSpPr>
        <p:spPr>
          <a:xfrm>
            <a:off x="5122506" y="6634064"/>
            <a:ext cx="1791476" cy="0"/>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810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8A07513A-CB19-87B1-9939-BA24AB996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367D3-896F-1E02-9C26-8573B23CCF14}"/>
              </a:ext>
            </a:extLst>
          </p:cNvPr>
          <p:cNvSpPr>
            <a:spLocks noGrp="1"/>
          </p:cNvSpPr>
          <p:nvPr>
            <p:ph type="ctrTitle"/>
          </p:nvPr>
        </p:nvSpPr>
        <p:spPr>
          <a:xfrm>
            <a:off x="0" y="0"/>
            <a:ext cx="12192000" cy="6858000"/>
          </a:xfrm>
        </p:spPr>
        <p:txBody>
          <a:bodyPr anchor="t">
            <a:normAutofit/>
          </a:bodyPr>
          <a:lstStyle/>
          <a:p>
            <a:pPr algn="l"/>
            <a:r>
              <a:rPr lang="en-IN" sz="3600" kern="100" dirty="0">
                <a:solidFill>
                  <a:schemeClr val="accent2">
                    <a:lumMod val="50000"/>
                  </a:schemeClr>
                </a:solidFill>
                <a:effectLst/>
                <a:latin typeface="Segoe UI Semibold" panose="020B0702040204020203" pitchFamily="34" charset="0"/>
                <a:ea typeface="Calibri" panose="020F0502020204030204" pitchFamily="34" charset="0"/>
                <a:cs typeface="Segoe UI Semibold" panose="020B0702040204020203" pitchFamily="34" charset="0"/>
              </a:rPr>
              <a:t>Recommendation</a:t>
            </a:r>
            <a:br>
              <a:rPr lang="en-IN" sz="3600" kern="100" dirty="0">
                <a:solidFill>
                  <a:schemeClr val="accent2">
                    <a:lumMod val="50000"/>
                  </a:schemeClr>
                </a:solidFill>
                <a:effectLst/>
                <a:latin typeface="Segoe UI Semibold" panose="020B0702040204020203" pitchFamily="34" charset="0"/>
                <a:ea typeface="Calibri" panose="020F0502020204030204" pitchFamily="34" charset="0"/>
                <a:cs typeface="Segoe UI Semibold" panose="020B0702040204020203" pitchFamily="34" charset="0"/>
              </a:rPr>
            </a:br>
            <a:r>
              <a:rPr lang="en-US" sz="1600" b="1" dirty="0">
                <a:latin typeface="+mn-lt"/>
              </a:rPr>
              <a:t>Focus on High-Performing Products:</a:t>
            </a:r>
            <a:br>
              <a:rPr lang="en-US" sz="1600" dirty="0">
                <a:latin typeface="+mn-lt"/>
              </a:rPr>
            </a:br>
            <a:r>
              <a:rPr lang="en-US" sz="1600" dirty="0">
                <a:latin typeface="+mn-lt"/>
              </a:rPr>
              <a:t>Increase promotion of top products like Coffee, Tea, Barista Espresso, and Hot Chocolate through discounts, bundles, or loyalty programs to maintain momentum.</a:t>
            </a:r>
            <a:br>
              <a:rPr lang="en-US" sz="1600" dirty="0">
                <a:latin typeface="+mn-lt"/>
              </a:rPr>
            </a:br>
            <a:r>
              <a:rPr lang="en-US" sz="1600" dirty="0">
                <a:latin typeface="+mn-lt"/>
              </a:rPr>
              <a:t>Introduce seasonal or limited-time offers in the Bakery category to boost sales further.</a:t>
            </a:r>
            <a:br>
              <a:rPr lang="en-US" sz="1600" dirty="0">
                <a:latin typeface="+mn-lt"/>
              </a:rPr>
            </a:br>
            <a:br>
              <a:rPr lang="en-US" sz="1600" dirty="0">
                <a:latin typeface="+mn-lt"/>
              </a:rPr>
            </a:br>
            <a:r>
              <a:rPr lang="en-US" sz="1600" b="1" dirty="0">
                <a:latin typeface="+mn-lt"/>
              </a:rPr>
              <a:t>Boost Weekend Sales:</a:t>
            </a:r>
            <a:br>
              <a:rPr lang="en-US" sz="1600" dirty="0">
                <a:latin typeface="+mn-lt"/>
              </a:rPr>
            </a:br>
            <a:r>
              <a:rPr lang="en-US" sz="1600" dirty="0">
                <a:latin typeface="+mn-lt"/>
              </a:rPr>
              <a:t>Develop weekend-specific promotions (e.g., "Weekend Happy Hours" or special combos) to drive more traffic during this slower period.</a:t>
            </a:r>
            <a:br>
              <a:rPr lang="en-US" sz="1600" dirty="0">
                <a:latin typeface="+mn-lt"/>
              </a:rPr>
            </a:br>
            <a:r>
              <a:rPr lang="en-US" sz="1600" dirty="0">
                <a:latin typeface="+mn-lt"/>
              </a:rPr>
              <a:t>Partner with local events to attract customers on weekends.</a:t>
            </a:r>
            <a:br>
              <a:rPr lang="en-US" sz="1600" dirty="0">
                <a:latin typeface="+mn-lt"/>
              </a:rPr>
            </a:br>
            <a:br>
              <a:rPr lang="en-US" sz="1600" dirty="0">
                <a:latin typeface="+mn-lt"/>
              </a:rPr>
            </a:br>
            <a:r>
              <a:rPr lang="en-US" sz="1600" b="1" dirty="0">
                <a:latin typeface="+mn-lt"/>
              </a:rPr>
              <a:t>Optimize Store Operations:</a:t>
            </a:r>
            <a:br>
              <a:rPr lang="en-US" sz="1600" dirty="0">
                <a:latin typeface="+mn-lt"/>
              </a:rPr>
            </a:br>
            <a:r>
              <a:rPr lang="en-US" sz="1600" dirty="0">
                <a:latin typeface="+mn-lt"/>
              </a:rPr>
              <a:t>Hell’s Kitchen is a strong performer, but other locations like Astoria and Lower Manhattan show equally promising growth. Consider replicating successful strategies from Hell’s Kitchen in these areas.</a:t>
            </a:r>
            <a:br>
              <a:rPr lang="en-US" sz="1600" dirty="0">
                <a:latin typeface="+mn-lt"/>
              </a:rPr>
            </a:br>
            <a:r>
              <a:rPr lang="en-US" sz="1600" dirty="0">
                <a:latin typeface="+mn-lt"/>
              </a:rPr>
              <a:t>Staff peak hours (7AM– 12 PM) with additional resources to handle high demand efficiently.</a:t>
            </a:r>
            <a:br>
              <a:rPr lang="en-US" sz="1600" dirty="0">
                <a:latin typeface="+mn-lt"/>
              </a:rPr>
            </a:br>
            <a:br>
              <a:rPr lang="en-US" sz="1600" dirty="0">
                <a:latin typeface="+mn-lt"/>
              </a:rPr>
            </a:br>
            <a:r>
              <a:rPr lang="en-US" sz="1600" b="1" dirty="0">
                <a:latin typeface="+mn-lt"/>
              </a:rPr>
              <a:t>Targeted Marketing Campaigns:</a:t>
            </a:r>
            <a:br>
              <a:rPr lang="en-US" sz="1600" dirty="0">
                <a:latin typeface="+mn-lt"/>
              </a:rPr>
            </a:br>
            <a:r>
              <a:rPr lang="en-US" sz="1600" dirty="0">
                <a:latin typeface="+mn-lt"/>
              </a:rPr>
              <a:t>Since weekdays drive most sales, focus digital advertising and email campaigns during those days.</a:t>
            </a:r>
            <a:br>
              <a:rPr lang="en-US" sz="1600" dirty="0">
                <a:latin typeface="+mn-lt"/>
              </a:rPr>
            </a:br>
            <a:r>
              <a:rPr lang="en-US" sz="1600" dirty="0">
                <a:latin typeface="+mn-lt"/>
              </a:rPr>
              <a:t>Utilize customer insights (from loyalty programs or surveys) to tailor product recommendations and upsell strategies.</a:t>
            </a:r>
            <a:br>
              <a:rPr lang="en-US" sz="1600" dirty="0">
                <a:latin typeface="+mn-lt"/>
              </a:rPr>
            </a:br>
            <a:br>
              <a:rPr lang="en-US" sz="1600" dirty="0">
                <a:latin typeface="+mn-lt"/>
              </a:rPr>
            </a:br>
            <a:r>
              <a:rPr lang="en-US" sz="1600" b="1" dirty="0">
                <a:latin typeface="+mn-lt"/>
              </a:rPr>
              <a:t>Introduce Evening Offerings:</a:t>
            </a:r>
            <a:br>
              <a:rPr lang="en-US" sz="1600" dirty="0">
                <a:latin typeface="+mn-lt"/>
              </a:rPr>
            </a:br>
            <a:r>
              <a:rPr lang="en-US" sz="1600" dirty="0">
                <a:latin typeface="+mn-lt"/>
              </a:rPr>
              <a:t>With lower sales during evening hours, consider introducing special evening-themed beverages or snacks, such as herbal teas, desserts, or discounted coffee.</a:t>
            </a:r>
            <a:br>
              <a:rPr lang="en-US" sz="1600" dirty="0">
                <a:latin typeface="+mn-lt"/>
              </a:rPr>
            </a:br>
            <a:br>
              <a:rPr lang="en-US" sz="1600" dirty="0">
                <a:latin typeface="+mn-lt"/>
              </a:rPr>
            </a:br>
            <a:r>
              <a:rPr lang="en-US" sz="1600" b="1" dirty="0">
                <a:latin typeface="+mn-lt"/>
              </a:rPr>
              <a:t>Refine Data Analysis:</a:t>
            </a:r>
            <a:br>
              <a:rPr lang="en-US" sz="1600" dirty="0">
                <a:latin typeface="+mn-lt"/>
              </a:rPr>
            </a:br>
            <a:r>
              <a:rPr lang="en-US" sz="1600" dirty="0">
                <a:latin typeface="+mn-lt"/>
              </a:rPr>
              <a:t>Drill down into customer preferences by combining product sales with customer demographics.</a:t>
            </a:r>
            <a:br>
              <a:rPr lang="en-US" sz="1600" dirty="0">
                <a:latin typeface="+mn-lt"/>
              </a:rPr>
            </a:br>
            <a:r>
              <a:rPr lang="en-US" sz="1600" dirty="0">
                <a:latin typeface="+mn-lt"/>
              </a:rPr>
              <a:t>Analyze specific reasons for the Sunday sales dip and target this day with a unique promotion (e.g., family discounts or kids’ menus).</a:t>
            </a:r>
            <a:br>
              <a:rPr lang="en-US" sz="1600" dirty="0">
                <a:latin typeface="+mn-lt"/>
              </a:rPr>
            </a:br>
            <a:r>
              <a:rPr lang="en-IN" sz="1600" kern="100" dirty="0">
                <a:effectLst/>
                <a:latin typeface="+mn-lt"/>
                <a:ea typeface="Calibri" panose="020F0502020204030204" pitchFamily="34" charset="0"/>
                <a:cs typeface="Mangal" panose="02040503050203030202" pitchFamily="18" charset="0"/>
              </a:rPr>
              <a:t> </a:t>
            </a:r>
            <a:br>
              <a:rPr lang="en-IN" sz="1600" kern="100" dirty="0">
                <a:effectLst/>
                <a:latin typeface="+mn-lt"/>
                <a:ea typeface="Calibri" panose="020F0502020204030204" pitchFamily="34" charset="0"/>
                <a:cs typeface="Mangal" panose="02040503050203030202" pitchFamily="18" charset="0"/>
              </a:rPr>
            </a:br>
            <a:endParaRPr lang="en-IN" sz="1600" dirty="0">
              <a:latin typeface="+mn-lt"/>
            </a:endParaRPr>
          </a:p>
        </p:txBody>
      </p:sp>
      <p:pic>
        <p:nvPicPr>
          <p:cNvPr id="6" name="Picture 5">
            <a:extLst>
              <a:ext uri="{FF2B5EF4-FFF2-40B4-BE49-F238E27FC236}">
                <a16:creationId xmlns:a16="http://schemas.microsoft.com/office/drawing/2014/main" id="{735FB8F0-B24E-0E4E-86F3-81227C142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spTree>
    <p:extLst>
      <p:ext uri="{BB962C8B-B14F-4D97-AF65-F5344CB8AC3E}">
        <p14:creationId xmlns:p14="http://schemas.microsoft.com/office/powerpoint/2010/main" val="1514859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alpha val="50000"/>
              </a:schemeClr>
            </a:gs>
            <a:gs pos="95000">
              <a:schemeClr val="accent2">
                <a:lumMod val="60000"/>
                <a:lumOff val="40000"/>
              </a:schemeClr>
            </a:gs>
          </a:gsLst>
          <a:lin ang="7800000" scaled="0"/>
          <a:tileRect/>
        </a:gradFill>
        <a:effectLst/>
      </p:bgPr>
    </p:bg>
    <p:spTree>
      <p:nvGrpSpPr>
        <p:cNvPr id="1" name="">
          <a:extLst>
            <a:ext uri="{FF2B5EF4-FFF2-40B4-BE49-F238E27FC236}">
              <a16:creationId xmlns:a16="http://schemas.microsoft.com/office/drawing/2014/main" id="{C69AEDFE-2297-5B4F-CD46-AC9957ED9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37414-AAB4-29DF-243C-B448860E70AD}"/>
              </a:ext>
            </a:extLst>
          </p:cNvPr>
          <p:cNvSpPr>
            <a:spLocks noGrp="1"/>
          </p:cNvSpPr>
          <p:nvPr>
            <p:ph type="ctrTitle"/>
          </p:nvPr>
        </p:nvSpPr>
        <p:spPr>
          <a:xfrm>
            <a:off x="0" y="0"/>
            <a:ext cx="12192000" cy="6858000"/>
          </a:xfrm>
        </p:spPr>
        <p:txBody>
          <a:bodyPr anchor="t">
            <a:normAutofit/>
          </a:bodyPr>
          <a:lstStyle/>
          <a:p>
            <a:pPr>
              <a:lnSpc>
                <a:spcPct val="107000"/>
              </a:lnSpc>
              <a:spcAft>
                <a:spcPts val="800"/>
              </a:spcAft>
            </a:pPr>
            <a:br>
              <a:rPr lang="en-IN" dirty="0">
                <a:solidFill>
                  <a:schemeClr val="accent2">
                    <a:lumMod val="50000"/>
                  </a:schemeClr>
                </a:solidFill>
                <a:latin typeface="+mn-lt"/>
              </a:rPr>
            </a:br>
            <a:br>
              <a:rPr lang="en-IN" dirty="0">
                <a:solidFill>
                  <a:schemeClr val="accent2">
                    <a:lumMod val="50000"/>
                  </a:schemeClr>
                </a:solidFill>
                <a:latin typeface="+mn-lt"/>
              </a:rPr>
            </a:br>
            <a:r>
              <a:rPr lang="en-IN" dirty="0">
                <a:solidFill>
                  <a:schemeClr val="accent2">
                    <a:lumMod val="50000"/>
                  </a:schemeClr>
                </a:solidFill>
                <a:latin typeface="+mn-lt"/>
              </a:rPr>
              <a:t>Thank you</a:t>
            </a:r>
          </a:p>
        </p:txBody>
      </p:sp>
      <p:pic>
        <p:nvPicPr>
          <p:cNvPr id="6" name="Picture 5">
            <a:extLst>
              <a:ext uri="{FF2B5EF4-FFF2-40B4-BE49-F238E27FC236}">
                <a16:creationId xmlns:a16="http://schemas.microsoft.com/office/drawing/2014/main" id="{E0E8BBFC-43C2-5372-447F-AA7D059BB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799" y="34778"/>
            <a:ext cx="732201" cy="552362"/>
          </a:xfrm>
          <a:prstGeom prst="rect">
            <a:avLst/>
          </a:prstGeom>
        </p:spPr>
      </p:pic>
    </p:spTree>
    <p:extLst>
      <p:ext uri="{BB962C8B-B14F-4D97-AF65-F5344CB8AC3E}">
        <p14:creationId xmlns:p14="http://schemas.microsoft.com/office/powerpoint/2010/main" val="2669727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621</TotalTime>
  <Words>2643</Words>
  <Application>Microsoft Office PowerPoint</Application>
  <PresentationFormat>Widescreen</PresentationFormat>
  <Paragraphs>84</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Segoe UI Black</vt:lpstr>
      <vt:lpstr>Segoe UI Semibold</vt:lpstr>
      <vt:lpstr>Office Theme</vt:lpstr>
      <vt:lpstr>COFFEE SHOP SALES </vt:lpstr>
      <vt:lpstr>My SQL </vt:lpstr>
      <vt:lpstr>Problem Statement</vt:lpstr>
      <vt:lpstr>Task Completed  </vt:lpstr>
      <vt:lpstr>Total Sales KPI</vt:lpstr>
      <vt:lpstr>TOTAL SALES KPI - MOM DIFFERENCE AND MOM GROWTH </vt:lpstr>
      <vt:lpstr>TOTAL ORDERS </vt:lpstr>
      <vt:lpstr>TOTAL ORDERS KPI - MOM DIFFERENCE AND MOM GROWTH </vt:lpstr>
      <vt:lpstr>TOTAL QUANTITY SOLD  SELECT       SUM(transaction_qty) as Total_Quantity_Sold FROM      coffee_shop_sales  WHERE         MONTH(transaction_date) = 5 -- for month of (CM-May) </vt:lpstr>
      <vt:lpstr>TOTAL QUANTITY SOLD KPI  MOM DIFFERENCE AND MOM GROWTH  SELECT      MONTH(transaction_date) AS month,     ROUND(SUM(transaction_qty))      AS total_quantity_sold,     (SUM(transaction_qty) - LAG(SUM(transaction_qty), 1)      OVER (ORDER BY MONTH(transaction_date))) /      LAG(SUM(transaction_qty), 1)      OVER (ORDER BY MONTH(transaction_date)) * 100      AS mom_increase_percentage FROM      coffee_shop_sales WHERE      MONTH(transaction_date) IN (4, 5)   -- for April and May GROUP BY      MONTH(transaction_date) ORDER BY      MONTH(transaction_date);   </vt:lpstr>
      <vt:lpstr>CALENDAR TABLE – DAILY SALES, QUANTITY and TOTAL ORDERS SELECT     SUM(unit_price * transaction_qty) AS total_sales,     SUM(transaction_qty) AS total_quantity_sold,     COUNT(transaction_id) AS FROM      coffee_shop_sales WHERE      transaction_date = '2023-05-18'; --For 18 May 2023 </vt:lpstr>
      <vt:lpstr>SALES TREND OVER PERIOD  SELECT  AVG(total_sales) AS average_sales FROM (     SELECT          SUM(unit_price * transaction_qty) AS total_sales     FROM          coffee_shop_sales  WHERE          MONTH(transaction_date) = 5  -- Filter for May     GROUP BY          transaction_date ) AS internal_query; </vt:lpstr>
      <vt:lpstr>DAILY SALES FOR MONTH SELECTED SELECT      DAY(transaction_date) AS day_of_month,     ROUND(SUM(unit_price * transaction_qty),1) AS total_sales FROM      coffee_shop_sales WHERE      MONTH(transaction_date) = 5  -- Filter for May GROUP BY      DAY(transaction_date) ORDER BY      DAY(transaction_date); </vt:lpstr>
      <vt:lpstr>Daily Sales vs. Average: Above or Below SELECT      day_of_month,     CASE          WHEN total_sales &gt; avg_sales THEN 'Above Average'         WHEN total_sales &lt; avg_sales THEN 'Below Average'         ELSE 'Average'     END AS sales_status,     total_sales FROM (     SELECT          DAY(transaction_date) AS day_of_month,         SUM(unit_price * transaction_qty) AS total_sales,         AVG(SUM(unit_price * transaction_qty)) OVER () AS avg_sales     FROM          coffee_shop_sales     WHERE          MONTH(transaction_date) = 5  -- Filter for May     GROUP BY          DAY(transaction_date) AS BY    day_sales_data ORDER of_month; </vt:lpstr>
      <vt:lpstr>SALES BY WEEKDAY / WEEKEND:  SELECT      CASE          WHEN DAYOFWEEK(transaction_date) IN (1, 7) THEN 'Weekends'         ELSE 'Weekdays'     END AS day_type, ROUND(SUM(unit_price * transaction_qty),2) AS total_sales FROM      coffee_shop_sales WHERE      MONTH(transaction_date) = 5  -- Filter for May GROUP BY      CASE          WHEN DAYOFWEEK(transaction_date) IN (1, 7) THEN 'Weekends'         ELSE 'Weekdays'     END; </vt:lpstr>
      <vt:lpstr>SALES BY STORE LOCATION  SELECT       store_location,     SUM(unit_price * transaction_qty) as Total_Sales FROM coffee_shop_sales WHERE       MONTH(transaction_date) =5  GROUP BY      store_location ORDER BY         SUM(unit_price * transaction_qty) DESC </vt:lpstr>
      <vt:lpstr>SALES BY PRODUCT CATEGORY SELECT       product_category,  ROUND(SUM(unit_price * transaction_qty),1) as Total_Sales FROM coffee_shop_sales WHERE     MONTH(transaction_date) = 5  GROUP BY      product_category ORDER BY      SUM(unit_price * transaction_qty) DESC </vt:lpstr>
      <vt:lpstr>SALES BY PRODUCTS (TOP 10)  SELECT       product_type,      ROUND(SUM(unit_price * transaction_qty),1) as Total_Sales FROM coffee_shop_sales WHERE     MONTH(transaction_date) = 5  GROUP BY       product_type ORDER BY      SUM(unit_price * transaction_qty) DESC     LIMIT 10 </vt:lpstr>
      <vt:lpstr>SALES BY DAY | HOUR SELECT      ROUND(SUM(unit_price * transaction_qty)) AS Total_Sales,     SUM(transaction_qty) AS Total_Quantity,     COUNT(*) AS Total_Orders FROM      coffee_shop_sales WHERE      DAYOFWEEK(transaction_date) = 3   -- Filter for Tuesday (1 is Sunday, 2 is Monday, ..., 7 is Saturday)     AND HOUR(transaction_time) = 8  -- Filter for hour number 8     AND MONTH(transaction_date) = 5 -- Filter for May (month number 5) </vt:lpstr>
      <vt:lpstr>TO GET SALES FROM MONDAY TO SUNDAY FOR MONTH OF MAY SELECT      CASE          WHEN DAYOFWEEK(transaction_date) = 2 THEN 'Monday'         WHEN DAYOFWEEK(transaction_date) = 3 THEN 'Tuesday'         WHEN DAYOFWEEK(transaction_date) = 4 THEN 'Wednesday'         WHEN DAYOFWEEK(transaction_date) = 5 THEN 'Thursday'         WHEN DAYOFWEEK(transaction_date) = 6 THEN 'Friday'         WHEN DAYOFWEEK(transaction_date) = 7 THEN 'Saturday'         ELSE 'Sunday'     END AS Day_of_Week,     ROUND(SUM(unit_price * transaction_qty)) AS Total_Sales FROM      coffee_shop_sales WHERE      MONTH(transaction_date) = 5 -- Filter for May (month number 5) GROUP BY      CASE          WHEN DAYOFWEEK(transaction_date) = 2 THEN 'Monday'         WHEN DAYOFWEEK(transaction_date) = 3 THEN 'Tuesday'         WHEN DAYOFWEEK(transaction_date) = 4 THEN 'Wednesday'         WHEN DAYOFWEEK(transaction_date) = 5 THEN 'Thursday'         WHEN DAYOFWEEK(transaction_date) = 6 THEN 'Friday'         WHEN DAYOFWEEK(transaction_date) = 7 THEN 'Saturday'         ELSE 'Sunday'     END; </vt:lpstr>
      <vt:lpstr>TO GET SALES FOR ALL HOURS FOR MONTH OF MAY SELECT      HOUR(transaction_time) AS Hour_of_Day,     ROUND(SUM(unit_price * transaction_qty))    AS Total_Sales FROM      coffee_shop_sales WHERE      MONTH(transaction_date) = 5  -- Filter for May (month number 5) GROUP BY      HOUR(transaction_time) ORDER BY      HOUR(transaction_time); </vt:lpstr>
      <vt:lpstr>Insights   Overall Sales Performance: Total sales for May 2023: $157K, which represents a 31.8% increase compared to last month. Both total orders (33,527) and total quantity sold (48,233) show a 32.3% improvement vs. last month, indicating strong growth.  Top Performing Product Categories: Coffee contributes the most sales at $60.36K, followed by Tea ($44.54K), with both showing a significant increase (+31.9% and +33.5%). Bakery and Drinking Chocolate also show impressive growth (both over +30%).  Product Type Trends: Barista Espresso ($20.42K) and Brewed Chai Tea ($17.43K) lead among individual product types. Hot Chocolate ($16.32K) and Premium brewed coffee ($8.74K) also exhibit strong performance.  Sales by Weekday/Weekend: Majority of sales occurred on weekdays (74.19%), suggesting weekday-focused customer engagement.  Store Location Analysis: Hell’s Kitchen ($52.60K) is the top-performing store, showing a 30.5% sales growth compared to last month. Astoria and Lower Manhattan also performed well, with growth exceeding 32%.  Sales by Hour/Day: Peak sales hours occur in the morning and early afternoon (9 AM–2 PM), which aligns with typical coffee and snack purchase times. Sales are consistent throughout the week, with slightly lower activity on Sundays.  Sales Trends: Daily sales average around $5,056, with no drastic fluctuations but minor dips on weekends.     </vt:lpstr>
      <vt:lpstr>Recommendation Focus on High-Performing Products: Increase promotion of top products like Coffee, Tea, Barista Espresso, and Hot Chocolate through discounts, bundles, or loyalty programs to maintain momentum. Introduce seasonal or limited-time offers in the Bakery category to boost sales further.  Boost Weekend Sales: Develop weekend-specific promotions (e.g., "Weekend Happy Hours" or special combos) to drive more traffic during this slower period. Partner with local events to attract customers on weekends.  Optimize Store Operations: Hell’s Kitchen is a strong performer, but other locations like Astoria and Lower Manhattan show equally promising growth. Consider replicating successful strategies from Hell’s Kitchen in these areas. Staff peak hours (7AM– 12 PM) with additional resources to handle high demand efficiently.  Targeted Marketing Campaigns: Since weekdays drive most sales, focus digital advertising and email campaigns during those days. Utilize customer insights (from loyalty programs or surveys) to tailor product recommendations and upsell strategies.  Introduce Evening Offerings: With lower sales during evening hours, consider introducing special evening-themed beverages or snacks, such as herbal teas, desserts, or discounted coffee.  Refine Data Analysis: Drill down into customer preferences by combining product sales with customer demographics. Analyze specific reasons for the Sunday sales dip and target this day with a unique promotion (e.g., family discounts or kids’ menus).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Jade</dc:creator>
  <cp:lastModifiedBy>Neha Jade</cp:lastModifiedBy>
  <cp:revision>51</cp:revision>
  <dcterms:created xsi:type="dcterms:W3CDTF">2025-01-16T09:33:03Z</dcterms:created>
  <dcterms:modified xsi:type="dcterms:W3CDTF">2025-12-05T05:51:07Z</dcterms:modified>
</cp:coreProperties>
</file>